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473952"/>
            <a:ext cx="114757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967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Ancient and Modern Steganography | Source-based presentation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51967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of Steganography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1730"/>
          </a:solidFill>
          <a:ln w="12700">
            <a:solidFill>
              <a:srgbClr val="0B17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640080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0744" y="1078992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97480" y="1078992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517904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58568" y="1517904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956816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9656" y="1956816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0744" y="239572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2395728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" y="283464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58568" y="2834640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273552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9656" y="3273552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0744" y="3712464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97480" y="3712464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" y="4151376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58568" y="4151376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590288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19656" y="4590288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80744" y="502920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5029200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1832" y="5468112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58568" y="5468112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5907024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19656" y="5907024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1325880"/>
            <a:ext cx="7223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EVALUATION OF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STEGANOGRAPHY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4251960" y="303580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9C7DC"/>
                </a:solidFill>
              </a:rPr>
              <a:t>Ancient methods • modern media • practical LSB coding • steganalysis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261104" y="381304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11314A"/>
          </a:solidFill>
          <a:ln w="12700">
            <a:solidFill>
              <a:srgbClr val="1131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25112" y="3858768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</a:rPr>
              <a:t>SOURCE-BASED DECK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61104" y="42519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E1EF"/>
                </a:solidFill>
              </a:rPr>
              <a:t>Based on the uploaded article “Ancient and Modern Steganography”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261104" y="471830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A8C2"/>
                </a:solidFill>
              </a:rPr>
              <a:t>Prepared for technical presentation / viva / classroom demonstration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01 • 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What is steganography?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075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</a:rPr>
              <a:t>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24128" y="143560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</a:rPr>
              <a:t>“Putting information in a medium without causing significant and statistically difference in the medium.”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640080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00" dirty="0">
                <a:solidFill>
                  <a:srgbClr val="18212F"/>
                </a:solidFill>
              </a:rPr>
              <a:t>The article frames steganography as “cover writing” - information is concealed so it can pass from sender to receiver without attracting notice.</a:t>
            </a:r>
            <a:endParaRPr lang="en-US" sz="1500" dirty="0"/>
          </a:p>
          <a:p>
            <a:r>
              <a:rPr lang="en-US" sz="1500" dirty="0">
                <a:solidFill>
                  <a:srgbClr val="18212F"/>
                </a:solidFill>
              </a:rPr>
              <a:t>Its central idea is concealment, while cryptography primarily transforms information into an unreadable form.</a:t>
            </a:r>
            <a:endParaRPr lang="en-US" sz="1500" dirty="0"/>
          </a:p>
          <a:p>
            <a:r>
              <a:rPr lang="en-US" sz="1500" dirty="0">
                <a:solidFill>
                  <a:srgbClr val="18212F"/>
                </a:solidFill>
              </a:rPr>
              <a:t>The sender creates a “sublime channel” so the communication medium itself does not look suspicious.</a:t>
            </a:r>
            <a:endParaRPr lang="en-US" sz="1500" dirty="0"/>
          </a:p>
        </p:txBody>
      </p:sp>
      <p:pic>
        <p:nvPicPr>
          <p:cNvPr id="8" name="Image 0" descr="/mnt/data/steg_crops/p1_prison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4160520" cy="3611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0" y="1234440"/>
            <a:ext cx="4160520" cy="3611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43800" y="496519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07808" y="501091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PRISONERS’ PROBLEM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360920" y="53492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Alice sends to Bob through a guarded channel; the communication must blend into a normal medium.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02 • 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Steganography vs. cryptography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234440"/>
            <a:ext cx="5303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5727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184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STEGANOGRAPHY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92240" y="15727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6184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CRYPTOGRAPHY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A"/>
                </a:solidFill>
              </a:rPr>
              <a:t>Goal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Hide the existence of the message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A"/>
                </a:solidFill>
              </a:rPr>
              <a:t>Goal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Protect message meaning by transformation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44805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50" dirty="0">
                <a:solidFill>
                  <a:srgbClr val="18212F"/>
                </a:solidFill>
              </a:rPr>
              <a:t>Cover medium remains usable after embedding.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Detection is the key challenge: can an observer tell something is hidden?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Often combined with encryption for added security.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52628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50" dirty="0">
                <a:solidFill>
                  <a:srgbClr val="18212F"/>
                </a:solidFill>
              </a:rPr>
              <a:t>Ciphertext is intentionally apparent as transformed data.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Security depends on the cryptographic construction/key.</a:t>
            </a:r>
            <a:endParaRPr lang="en-US" sz="1350" dirty="0"/>
          </a:p>
          <a:p>
            <a:r>
              <a:rPr lang="en-US" sz="1350" dirty="0">
                <a:solidFill>
                  <a:srgbClr val="18212F"/>
                </a:solidFill>
              </a:rPr>
              <a:t>The article explicitly warns not to confuse the two.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16168" y="1463040"/>
            <a:ext cx="0" cy="397764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03 •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Basic steganography process</a:t>
            </a:r>
            <a:endParaRPr lang="en-US" sz="2600" dirty="0"/>
          </a:p>
        </p:txBody>
      </p:sp>
      <p:pic>
        <p:nvPicPr>
          <p:cNvPr id="4" name="Image 0" descr="/mnt/data/steg_crops/p1_basic_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07008"/>
            <a:ext cx="557784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07008"/>
            <a:ext cx="557784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37960" y="1234440"/>
            <a:ext cx="49834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39712" y="15727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39712" y="1664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60920" y="1554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</a:rPr>
              <a:t>Secret message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006840" y="15544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</a:rPr>
              <a:t>payload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39712" y="2295144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238658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360920" y="2276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</a:rPr>
              <a:t>Cover medium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006840" y="22768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</a:rPr>
              <a:t>image / text / audio / video / protocol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39712" y="3017520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39712" y="3108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360920" y="29992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</a:rPr>
              <a:t>Stego encoder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00684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</a:rPr>
              <a:t>embedding function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39712" y="3739896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39712" y="38313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360920" y="3721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</a:rPr>
              <a:t>Stego object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006840" y="37216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</a:rPr>
              <a:t>normal-looking carrier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39712" y="4462272"/>
            <a:ext cx="384048" cy="384048"/>
          </a:xfrm>
          <a:prstGeom prst="ellipse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39712" y="45537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233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360920" y="44439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</a:rPr>
              <a:t>Decoder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006840" y="4443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</a:rPr>
              <a:t>extract hidden message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04 • EVOLUTION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From ancient concealment to digital carriers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6012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Ancient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wax tablets • body vectors • geoglyphs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Classical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9864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Cardan grille • text hiding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2356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5780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WWII era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036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microdots • sign language • quilts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2971800"/>
            <a:ext cx="18745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262432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Digital image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6208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LSB • PVD • transform domain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87000" y="2971800"/>
            <a:ext cx="187452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66960" y="2624328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27980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921240" y="3493008"/>
            <a:ext cx="1965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Multimedia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893808" y="3931920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image • text • audio • video • protocol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14173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212F"/>
                </a:solidFill>
              </a:rPr>
              <a:t>The article’s central message: the medium and technique change over time, but the concealment objective remains.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05 • HISTORY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Ancient steganography: hiding in plain sight</a:t>
            </a:r>
            <a:endParaRPr lang="en-US" sz="2600" dirty="0"/>
          </a:p>
        </p:txBody>
      </p:sp>
      <p:pic>
        <p:nvPicPr>
          <p:cNvPr id="4" name="Image 0" descr="/mnt/data/steg_crops/p3_w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374904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98448"/>
            <a:ext cx="374904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crops/p3_naz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298448"/>
            <a:ext cx="3749040" cy="2240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498848" y="1298448"/>
            <a:ext cx="374904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2" descr="/mnt/data/steg_crops/p3_gril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298448"/>
            <a:ext cx="3154680" cy="22402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412480" y="1298448"/>
            <a:ext cx="315468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554480" y="3721608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618488" y="37673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WAX TABLET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5788152" y="372160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852160" y="3767328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GEOGLYPHS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9189720" y="3721608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253728" y="3767328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CARDAN GRILLE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67512" y="418795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8212F"/>
                </a:solidFill>
              </a:rPr>
              <a:t>Demaratus wrote on the wood backing of a wax tablet and covered it with beeswax.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53712" y="4187952"/>
            <a:ext cx="3584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8212F"/>
                </a:solidFill>
              </a:rPr>
              <a:t>The article cites the Nazca Lines, Uffington White Horse, Cerne Abbas Giant and other figures visible from the air as examples of large-scale hidden communication.</a:t>
            </a:r>
            <a:endParaRPr lang="en-US" sz="1160" dirty="0"/>
          </a:p>
        </p:txBody>
      </p:sp>
      <p:sp>
        <p:nvSpPr>
          <p:cNvPr id="18" name="Text 13"/>
          <p:cNvSpPr/>
          <p:nvPr/>
        </p:nvSpPr>
        <p:spPr>
          <a:xfrm>
            <a:off x="8412480" y="41879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8212F"/>
                </a:solidFill>
              </a:rPr>
              <a:t>Cardan Grille uses a prepared grid with apertures; the message is written through the holes and then disguised by ordinary-looking text.</a:t>
            </a:r>
            <a:endParaRPr lang="en-US" sz="1160" dirty="0"/>
          </a:p>
        </p:txBody>
      </p:sp>
      <p:sp>
        <p:nvSpPr>
          <p:cNvPr id="19" name="Text 1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06 • EXAMPLES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WWII and historic practical vectors</a:t>
            </a:r>
            <a:endParaRPr lang="en-US" sz="2600" dirty="0"/>
          </a:p>
        </p:txBody>
      </p:sp>
      <p:pic>
        <p:nvPicPr>
          <p:cNvPr id="4" name="Image 0" descr="/mnt/data/steg_crops/p4_micro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79476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80160"/>
            <a:ext cx="379476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crops/p4_qui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86200"/>
            <a:ext cx="3794760" cy="1965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3886200"/>
            <a:ext cx="379476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800600" y="1298448"/>
            <a:ext cx="672084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166360" y="1664208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230368" y="170992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MICRODOTS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166360" y="20848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Tiny reproductions could carry pages of information while appearing unremarkable.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166360" y="27889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30368" y="28346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BEAR PAW SYMBOL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166360" y="32004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The article describes quilt patterns as an alleged practical vector for guiding escaped slaves, including the Bear Paw symbol.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66360" y="4297680"/>
            <a:ext cx="196596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230368" y="4343400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LESSON FOR MODERN SYSTEMS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166360" y="4700016"/>
            <a:ext cx="5806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Steganography succeeds when the carrier has a plausible reason to exist. The hiding mechanism should not become the story.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07 • MEDIA TYPES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Modern steganography: the carrier landscape</a:t>
            </a:r>
            <a:endParaRPr lang="en-US" sz="2600" dirty="0"/>
          </a:p>
        </p:txBody>
      </p:sp>
      <p:pic>
        <p:nvPicPr>
          <p:cNvPr id="4" name="Image 0" descr="/mnt/data/steg_crops/p4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461772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325880"/>
            <a:ext cx="461772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32120" y="12984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32120" y="1298448"/>
            <a:ext cx="128016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4264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</a:rPr>
              <a:t>TEXT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76288" y="14264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selection • HTML • spaces • shifting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532120" y="22128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32120" y="2212848"/>
            <a:ext cx="128016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3408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</a:rPr>
              <a:t>IMAGE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76288" y="23408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spatial domain • LSB • PVD • transform domain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32120" y="31272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32120" y="3127248"/>
            <a:ext cx="128016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2552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</a:rPr>
              <a:t>AUDIO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76288" y="32552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MP3/WAV • sampling • echo hiding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32120" y="40416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32120" y="4041648"/>
            <a:ext cx="128016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06440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</a:rPr>
              <a:t>VIDEO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76288" y="41696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image + audio techniques across frames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532120" y="4956048"/>
            <a:ext cx="56235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32120" y="4956048"/>
            <a:ext cx="128016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50840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</a:rPr>
              <a:t>PROTOCOL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876288" y="5084064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TCP/IP headers • packet length • VoIP/SIP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31520" y="4663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The article explicitly identifies five modern categories: text, image, audio, video and protocol steganography.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08 • DEEP DIVE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Image steganography and the LSB idea</a:t>
            </a:r>
            <a:endParaRPr lang="en-US" sz="2600" dirty="0"/>
          </a:p>
        </p:txBody>
      </p:sp>
      <p:pic>
        <p:nvPicPr>
          <p:cNvPr id="4" name="Image 0" descr="/mnt/data/steg_crops/p4_image_ste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4572000" cy="3611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25880"/>
            <a:ext cx="4572000" cy="3611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40680" y="1298448"/>
            <a:ext cx="6053328" cy="3639312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42432" y="164592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691640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SOURCE CONCEPT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42432" y="20574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</a:rPr>
              <a:t>Hide message bits inside low-order image information so the visual change is difficult to notice.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42432" y="2926080"/>
            <a:ext cx="521208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10" dirty="0">
                <a:solidFill>
                  <a:srgbClr val="18212F"/>
                </a:solidFill>
              </a:rPr>
              <a:t>Common carrier formats cited by the article include JPEG, BMP, GIF and PNG.</a:t>
            </a:r>
            <a:endParaRPr lang="en-US" sz="1310" dirty="0"/>
          </a:p>
          <a:p>
            <a:r>
              <a:rPr lang="en-US" sz="1310" dirty="0">
                <a:solidFill>
                  <a:srgbClr val="18212F"/>
                </a:solidFill>
              </a:rPr>
              <a:t>A key can be optional; when used, the technique can be combined with cryptography.</a:t>
            </a:r>
            <a:endParaRPr lang="en-US" sz="1310" dirty="0"/>
          </a:p>
          <a:p>
            <a:r>
              <a:rPr lang="en-US" sz="1310" dirty="0">
                <a:solidFill>
                  <a:srgbClr val="18212F"/>
                </a:solidFill>
              </a:rPr>
              <a:t>Capacity, image quality and detectability become the practical trade-offs.</a:t>
            </a:r>
            <a:endParaRPr lang="en-US" sz="1310" dirty="0"/>
          </a:p>
        </p:txBody>
      </p:sp>
      <p:sp>
        <p:nvSpPr>
          <p:cNvPr id="11" name="Text 8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09 • LIVE CODING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Practical lab: encode a message with Python + Pillow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640080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36192"/>
            <a:ext cx="5943600" cy="3931920"/>
          </a:xfrm>
          <a:prstGeom prst="roundRect">
            <a:avLst>
              <a:gd name="adj" fmla="val 1395"/>
            </a:avLst>
          </a:prstGeom>
          <a:solidFill>
            <a:srgbClr val="0F172A"/>
          </a:solidFill>
          <a:ln w="12700">
            <a:solidFill>
              <a:srgbClr val="233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82496"/>
            <a:ext cx="561441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encode(src, dst, message):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Image.open(src).convert("RGB")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= ''.join(f"{b:08b}" for b in message.encode()) + "00000000"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px = list(img.getdata())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len(bits) &gt; len(px):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ValueError("message too large")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[]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(r, g, b) in enumerate(px):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&lt; len(bits):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 = (r &amp; 254) | int(bits[i])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out.append((r, g, b))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stego = Image.new("RGB", img.size)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stego.putdata(out)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stego.save(dst)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7269480" y="1234440"/>
            <a:ext cx="4224528" cy="4553712"/>
          </a:xfrm>
          <a:prstGeom prst="roundRect">
            <a:avLst>
              <a:gd name="adj" fmla="val 173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71232" y="15727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What the demo changes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71232" y="2057400"/>
            <a:ext cx="352044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00" dirty="0">
                <a:solidFill>
                  <a:srgbClr val="18212F"/>
                </a:solidFill>
              </a:rPr>
              <a:t>Only the least-significant bit of the red channel is touched for successive pixels.</a:t>
            </a:r>
            <a:endParaRPr lang="en-US" sz="1300" dirty="0"/>
          </a:p>
          <a:p>
            <a:r>
              <a:rPr lang="en-US" sz="1300" dirty="0">
                <a:solidFill>
                  <a:srgbClr val="18212F"/>
                </a:solidFill>
              </a:rPr>
              <a:t>The cover image remains visually usable.</a:t>
            </a:r>
            <a:endParaRPr lang="en-US" sz="1300" dirty="0"/>
          </a:p>
          <a:p>
            <a:r>
              <a:rPr lang="en-US" sz="1300" dirty="0">
                <a:solidFill>
                  <a:srgbClr val="18212F"/>
                </a:solidFill>
              </a:rPr>
              <a:t>A terminator byte marks the end of the hidden string.</a:t>
            </a:r>
            <a:endParaRPr lang="en-US" sz="1300" dirty="0"/>
          </a:p>
          <a:p>
            <a:r>
              <a:rPr lang="en-US" sz="1300" dirty="0">
                <a:solidFill>
                  <a:srgbClr val="18212F"/>
                </a:solidFill>
              </a:rPr>
              <a:t>In production, add input validation, a key, and a stronger embedding strategy.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71232" y="464515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77A"/>
                </a:solidFill>
              </a:rPr>
              <a:t>Demo payload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71232" y="4937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Meet me at 18:30 - bring the demo laptop.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10 • EXPERIMENT OUTPUT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Practical lab result: hide, measure, recover</a:t>
            </a:r>
            <a:endParaRPr lang="en-US" sz="2600" dirty="0"/>
          </a:p>
        </p:txBody>
      </p:sp>
      <p:pic>
        <p:nvPicPr>
          <p:cNvPr id="4" name="Image 0" descr="/mnt/data/steg_demo/carr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292608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258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demo/ste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325880"/>
            <a:ext cx="292608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749040" y="1325880"/>
            <a:ext cx="292608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2" descr="/mnt/data/steg_demo/diff_x15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25880"/>
            <a:ext cx="2286000" cy="22860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858000" y="1325880"/>
            <a:ext cx="2286000" cy="2286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400032" y="1325880"/>
            <a:ext cx="2103120" cy="29260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528048" y="16276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41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9528048" y="2084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payload bytes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9528048" y="25420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175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9528048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pixels changed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9528048" y="3456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84.66 dB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9528048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demo PSNR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059168" y="3776472"/>
            <a:ext cx="187452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123176" y="382219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AMPLIFIED DIFFERENCE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931152" y="41605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B677A"/>
                </a:solidFill>
              </a:rPr>
              <a:t>The third image magnifies channel changes; they are not intended to be visible at normal viewing scale.</a:t>
            </a:r>
            <a:endParaRPr lang="en-US" sz="1120" dirty="0"/>
          </a:p>
        </p:txBody>
      </p:sp>
      <p:sp>
        <p:nvSpPr>
          <p:cNvPr id="20" name="Shape 15"/>
          <p:cNvSpPr/>
          <p:nvPr/>
        </p:nvSpPr>
        <p:spPr>
          <a:xfrm>
            <a:off x="640080" y="4526280"/>
            <a:ext cx="10863072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400" y="48006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B4FC"/>
                </a:solidFill>
              </a:rPr>
              <a:t>Decoded message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286000" y="4727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me at 18:30 - bring the demo laptop.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11 • LIVE CODING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Decode path: recover the hidden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5852160" cy="3246120"/>
          </a:xfrm>
          <a:prstGeom prst="roundRect">
            <a:avLst>
              <a:gd name="adj" fmla="val 1690"/>
            </a:avLst>
          </a:prstGeom>
          <a:solidFill>
            <a:srgbClr val="0F172A"/>
          </a:solidFill>
          <a:ln w="12700">
            <a:solidFill>
              <a:srgbClr val="233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792224"/>
            <a:ext cx="5522976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decode(src):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 = Image.open(src).convert("RGB")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bits = ''.join(str(r &amp; 1) for r, g, b in img.getdata())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raw = bytes(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int(bits[i:i+8], 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range(0, len(bits) - 7, 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raw.split(b"\x00")[0].decode("utf-8")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print(decode("stego.png"))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5093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77A"/>
                </a:solidFill>
              </a:rPr>
              <a:t>Console output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5321808"/>
            <a:ext cx="5833872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233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5468112"/>
            <a:ext cx="5504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Meet me at 18:30 - bring the demo laptop.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360920" y="1298448"/>
            <a:ext cx="4133088" cy="4526280"/>
          </a:xfrm>
          <a:prstGeom prst="roundRect">
            <a:avLst>
              <a:gd name="adj" fmla="val 17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99248" y="166420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</a:rPr>
              <a:t>What should we evaluate?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26680" y="22402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Capacity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42832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77A"/>
                </a:solidFill>
              </a:rPr>
              <a:t>How much payload can the carrier safely hold?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7726680" y="30358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Imperceptibility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42832" y="302666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77A"/>
                </a:solidFill>
              </a:rPr>
              <a:t>Can a human observer notice the change?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7726680" y="38313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Detectability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942832" y="382219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77A"/>
                </a:solidFill>
              </a:rPr>
              <a:t>Can statistical analysis flag the stego object?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7726680" y="46268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Robustness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942832" y="46177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77A"/>
                </a:solidFill>
              </a:rPr>
              <a:t>Does hidden data survive processing/compression?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7699248" y="51663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7A"/>
                </a:solidFill>
              </a:rPr>
              <a:t>These four criteria are a practical extension for evaluating a demo; the source primarily emphasizes image quality, secrecy and steganalysis.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12 • MULTIMEDIA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Audio, video and protocol steganography</a:t>
            </a:r>
            <a:endParaRPr lang="en-US" sz="2600" dirty="0"/>
          </a:p>
        </p:txBody>
      </p:sp>
      <p:pic>
        <p:nvPicPr>
          <p:cNvPr id="4" name="Image 0" descr="/mnt/data/steg_crops/p5_au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98448"/>
            <a:ext cx="388620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298448"/>
            <a:ext cx="388620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1" descr="/mnt/data/steg_crops/p5_h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98448"/>
            <a:ext cx="3566160" cy="2240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818120" y="1298448"/>
            <a:ext cx="356616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636008" y="1298448"/>
            <a:ext cx="2834640" cy="43434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919472" y="1645920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983480" y="1691640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AUDIO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919472" y="2057400"/>
            <a:ext cx="225856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8212F"/>
                </a:solidFill>
              </a:rPr>
              <a:t>Hides secret data inside audio. The article mentions MP3 and WAV, with attributes such as sampling rate, amplification, noise, quantization, encoding/decoding, filtering and transcoding.</a:t>
            </a:r>
            <a:endParaRPr lang="en-US" sz="1160" dirty="0"/>
          </a:p>
        </p:txBody>
      </p:sp>
      <p:sp>
        <p:nvSpPr>
          <p:cNvPr id="12" name="Shape 8"/>
          <p:cNvSpPr/>
          <p:nvPr/>
        </p:nvSpPr>
        <p:spPr>
          <a:xfrm>
            <a:off x="7827264" y="3822192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91272" y="3867912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VIDEO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27264" y="4224528"/>
            <a:ext cx="3529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8212F"/>
                </a:solidFill>
              </a:rPr>
              <a:t>Video combines image and audio carriers. The source notes that more data may be embedded while distortion can remain less obvious because video is continuous.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685800" y="3822192"/>
            <a:ext cx="105156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9808" y="3867912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PROTOCOL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85800" y="4224528"/>
            <a:ext cx="3767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8212F"/>
                </a:solidFill>
              </a:rPr>
              <a:t>The source describes hiding information in TCP/IP packet properties and SIP/VoIP communication, where packet length or header fields become covert channels.</a:t>
            </a:r>
            <a:endParaRPr lang="en-US" sz="1160" dirty="0"/>
          </a:p>
        </p:txBody>
      </p:sp>
      <p:sp>
        <p:nvSpPr>
          <p:cNvPr id="18" name="Text 1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13 • TECHNIQUES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Text steganography: lightweight but fragile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070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6070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</a:rPr>
              <a:t>Character selection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6070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Choose specific characters from cover text to carry the payload.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4495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0FD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954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954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</a:rPr>
              <a:t>HTML / tag hiding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954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Insert data in HTML structures that render as normal content.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9379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5838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5838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</a:rPr>
              <a:t>Line &amp; word shifting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5838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Use vertical or horizontal spacing as the carrier.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4263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0722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</a:rPr>
              <a:t>White-space coding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0722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Two spaces can encode one state; one space another.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91472" y="1664208"/>
            <a:ext cx="1874520" cy="33832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56064" y="2359152"/>
            <a:ext cx="1536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</a:rPr>
              <a:t>Semantic / abbreviation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5606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Swap words for synonyms or coded abbreviations.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5321808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77A"/>
                </a:solidFill>
              </a:rPr>
              <a:t>Source note: the article says digital-file text steganography may be less common because text often has only a small amount of redundant data.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14 • DETECTION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Steganalysis: how hidden data is detected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1298448"/>
            <a:ext cx="6053328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664208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6696" y="170992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SOURCE DEFINITION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32688" y="208483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2233F"/>
                </a:solidFill>
              </a:rPr>
              <a:t>Steganalysis is the process of detecting and retrieving secret data from a suspected stego file.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246120"/>
            <a:ext cx="379476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Stego-Only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Known Cover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Known Message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Chosen Stego Attack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Chosen Message Attack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5760720" y="166420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24728" y="170992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PRACTICAL WORKFLOW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2233F"/>
                </a:solidFill>
              </a:rPr>
              <a:t>Suspect file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995160" y="2478024"/>
            <a:ext cx="228600" cy="2286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9752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51192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2233F"/>
                </a:solidFill>
              </a:rPr>
              <a:t>Feature / statistic analysis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348472" y="2478024"/>
            <a:ext cx="228600" cy="2286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13064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4504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2233F"/>
                </a:solidFill>
              </a:rPr>
              <a:t>Compare / classify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9701784" y="2478024"/>
            <a:ext cx="228600" cy="22860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66376" y="2240280"/>
            <a:ext cx="1170432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57816" y="24231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2233F"/>
                </a:solidFill>
              </a:rPr>
              <a:t>Extract or flag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5806440" y="3401568"/>
            <a:ext cx="51206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8212F"/>
                </a:solidFill>
              </a:rPr>
              <a:t>The article names tools such as StegDetect, StegSecret, JPeck/JPSeek, StegBreak, Jsteg-shell, F5, appendX, Camouflage, Hiderman, JPHide and Steganography analyzer.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5806440" y="495604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Why it matters: embedding quality is not enough - the stego object should avoid obvious statistical or perceptual anomalies.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15 •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Advantages, risks and real-world 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0832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1584" y="128016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627632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6696" y="167335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BENEFITS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32688" y="2103120"/>
            <a:ext cx="27889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Digital watermarking and copyright protection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Low-visibility communication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Can combine with cryptography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Flexible across many media types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4645152" y="1627632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67335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SECURITY LENS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45152" y="2103120"/>
            <a:ext cx="27889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Capacity vs. imperceptibility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Robustness vs. distortion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Detection resistance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Key management when cryptography is added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375904" y="1627632"/>
            <a:ext cx="777240" cy="274320"/>
          </a:xfrm>
          <a:prstGeom prst="roundRect">
            <a:avLst>
              <a:gd name="adj" fmla="val 26667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9912" y="1673352"/>
            <a:ext cx="649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RISKS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75904" y="2103120"/>
            <a:ext cx="2788920" cy="2743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The article notes misuse in terrorism-related contexts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Hidden messages can defeat ordinary inspection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Steganalysis is needed for defensive detection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097280" y="5138928"/>
            <a:ext cx="10012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77A"/>
                </a:solidFill>
              </a:rPr>
              <a:t>Source framing: the same concealment property that enables privacy and watermarking can also be exploited for covert or malicious communication.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16 • 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Evaluation checklist for a practical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34416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Can the receiver recover the exact message?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0" y="1344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Correctness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1828800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6712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042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218541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Can a viewer notice the carrier changed?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Perceptual quality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2670048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008376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4553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30266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Does statistical analysis detect the change?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98080" y="30266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Steganalysis resistance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17320" y="3511296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849624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867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17320" y="38679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How much information can be embedded?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8679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Capacity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17320" y="4352544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69087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82803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47091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</a:rPr>
              <a:t>Does compression / filtering break recovery?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4709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Robustness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17320" y="5193792"/>
            <a:ext cx="9281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9680" y="5413248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Good demo = hide + recover + measure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502920" y="61996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563EB"/>
                </a:solidFill>
              </a:rPr>
              <a:t>17 • CLOSE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233F"/>
                </a:solidFill>
              </a:rPr>
              <a:t>Conclusion and 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577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2233F"/>
                </a:solidFill>
              </a:rPr>
              <a:t>Steganography is not a new art; the concept stays stable while the medium evolves.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557784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320" dirty="0">
                <a:solidFill>
                  <a:srgbClr val="18212F"/>
                </a:solidFill>
              </a:rPr>
              <a:t>Ancient examples hide information in objects, bodies, patterns and ordinary text.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Modern systems hide data in text, images, audio, video and network protocols.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Steganalysis is the defensive counterpoint: detect, analyze and recover hidden information.</a:t>
            </a:r>
            <a:endParaRPr lang="en-US" sz="1320" dirty="0"/>
          </a:p>
          <a:p>
            <a:r>
              <a:rPr lang="en-US" sz="1320" dirty="0">
                <a:solidFill>
                  <a:srgbClr val="18212F"/>
                </a:solidFill>
              </a:rPr>
              <a:t>For a technical implementation, measure correctness, perceptual quality, capacity and detectability.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6492240" y="1188720"/>
            <a:ext cx="498348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536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</a:rPr>
              <a:t>Reference in the uploaded PDF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12280" y="199339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Dutta, S. &amp; Prakash, 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Ancient and Modern Steganography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Asian Journal of Convergence in Technology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Volume II, Issue III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12F"/>
                </a:solidFill>
              </a:rPr>
              <a:t>ISSN No.: 2350-1146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12280" y="3246120"/>
            <a:ext cx="4160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B677A"/>
                </a:solidFill>
              </a:rPr>
              <a:t>Selected references listed in the article include: J. Simmons (Prisoners’ Problem), Saini &amp; Saini, Cheddad et al., Kaur &amp; Behal, Bassil, Kumar &amp; Yadav, Hussain &amp; Hussain, Sharma &amp; Sharma, Judge, Patel &amp; Gadhiya, Lu, plus the URLs cited as [13]-[19].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502920" y="614476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i="1" dirty="0">
                <a:solidFill>
                  <a:srgbClr val="64748B"/>
                </a:solidFill>
              </a:rPr>
              <a:t>Source: Saugata Dutta &amp; Dr. Om Prakash, “Ancient and Modern Steganography”, Asian Journal of Convergence in Technology, Vol. II, Issue III.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Steganography</dc:title>
  <dc:subject>Evaluation of Steganography</dc:subject>
  <dc:creator>OpenAI</dc:creator>
  <cp:lastModifiedBy>OpenAI</cp:lastModifiedBy>
  <cp:revision>1</cp:revision>
  <dcterms:created xsi:type="dcterms:W3CDTF">2026-09-06T13:20:34Z</dcterms:created>
  <dcterms:modified xsi:type="dcterms:W3CDTF">2026-09-06T13:20:34Z</dcterms:modified>
</cp:coreProperties>
</file>