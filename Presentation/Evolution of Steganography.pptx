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6858000" cx="12192000"/>
  <p:notesSz cx="6858000" cy="12192000"/>
  <p:defaultTextStyle>
    <a:defPPr lvl="0"/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096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6473952"/>
            <a:ext cx="1147572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967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Ancient and Modern Steganography | Source-based presentation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0" y="651967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of Steganography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233F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12233F"/>
          </a:solidFill>
          <a:ln cap="flat" cmpd="sng" w="12700">
            <a:solidFill>
              <a:srgbClr val="1223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1"/>
          <p:cNvSpPr/>
          <p:nvPr/>
        </p:nvSpPr>
        <p:spPr>
          <a:xfrm>
            <a:off x="0" y="0"/>
            <a:ext cx="3840600" cy="6858000"/>
          </a:xfrm>
          <a:prstGeom prst="rect">
            <a:avLst/>
          </a:prstGeom>
          <a:solidFill>
            <a:srgbClr val="0B1730"/>
          </a:solidFill>
          <a:ln cap="flat" cmpd="sng" w="12700">
            <a:solidFill>
              <a:srgbClr val="0B17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"/>
          <p:cNvSpPr/>
          <p:nvPr/>
        </p:nvSpPr>
        <p:spPr>
          <a:xfrm>
            <a:off x="502920" y="640080"/>
            <a:ext cx="164700" cy="164700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"/>
          <p:cNvSpPr/>
          <p:nvPr/>
        </p:nvSpPr>
        <p:spPr>
          <a:xfrm>
            <a:off x="1819656" y="640080"/>
            <a:ext cx="164700" cy="1647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1"/>
          <p:cNvSpPr/>
          <p:nvPr/>
        </p:nvSpPr>
        <p:spPr>
          <a:xfrm>
            <a:off x="1380744" y="1078992"/>
            <a:ext cx="164700" cy="1647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"/>
          <p:cNvSpPr/>
          <p:nvPr/>
        </p:nvSpPr>
        <p:spPr>
          <a:xfrm>
            <a:off x="2697480" y="1078992"/>
            <a:ext cx="164700" cy="164700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1"/>
          <p:cNvSpPr/>
          <p:nvPr/>
        </p:nvSpPr>
        <p:spPr>
          <a:xfrm>
            <a:off x="941832" y="1517904"/>
            <a:ext cx="164700" cy="1647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1"/>
          <p:cNvSpPr/>
          <p:nvPr/>
        </p:nvSpPr>
        <p:spPr>
          <a:xfrm>
            <a:off x="2258568" y="1517904"/>
            <a:ext cx="164700" cy="164700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"/>
          <p:cNvSpPr/>
          <p:nvPr/>
        </p:nvSpPr>
        <p:spPr>
          <a:xfrm>
            <a:off x="502920" y="1956816"/>
            <a:ext cx="164700" cy="1647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"/>
          <p:cNvSpPr/>
          <p:nvPr/>
        </p:nvSpPr>
        <p:spPr>
          <a:xfrm>
            <a:off x="1819656" y="1956816"/>
            <a:ext cx="164700" cy="164700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"/>
          <p:cNvSpPr/>
          <p:nvPr/>
        </p:nvSpPr>
        <p:spPr>
          <a:xfrm>
            <a:off x="1380744" y="2395728"/>
            <a:ext cx="164700" cy="164700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"/>
          <p:cNvSpPr/>
          <p:nvPr/>
        </p:nvSpPr>
        <p:spPr>
          <a:xfrm>
            <a:off x="2697480" y="2395728"/>
            <a:ext cx="164700" cy="1647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1"/>
          <p:cNvSpPr/>
          <p:nvPr/>
        </p:nvSpPr>
        <p:spPr>
          <a:xfrm>
            <a:off x="941832" y="2834640"/>
            <a:ext cx="164700" cy="164700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"/>
          <p:cNvSpPr/>
          <p:nvPr/>
        </p:nvSpPr>
        <p:spPr>
          <a:xfrm>
            <a:off x="2258568" y="2834640"/>
            <a:ext cx="164700" cy="1647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"/>
          <p:cNvSpPr/>
          <p:nvPr/>
        </p:nvSpPr>
        <p:spPr>
          <a:xfrm>
            <a:off x="502920" y="3273552"/>
            <a:ext cx="164700" cy="164700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"/>
          <p:cNvSpPr/>
          <p:nvPr/>
        </p:nvSpPr>
        <p:spPr>
          <a:xfrm>
            <a:off x="1819656" y="3273552"/>
            <a:ext cx="164700" cy="1647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"/>
          <p:cNvSpPr/>
          <p:nvPr/>
        </p:nvSpPr>
        <p:spPr>
          <a:xfrm>
            <a:off x="1380744" y="3712464"/>
            <a:ext cx="164700" cy="1647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"/>
          <p:cNvSpPr/>
          <p:nvPr/>
        </p:nvSpPr>
        <p:spPr>
          <a:xfrm>
            <a:off x="2697480" y="3712464"/>
            <a:ext cx="164700" cy="164700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"/>
          <p:cNvSpPr/>
          <p:nvPr/>
        </p:nvSpPr>
        <p:spPr>
          <a:xfrm>
            <a:off x="941832" y="4151376"/>
            <a:ext cx="164700" cy="1647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"/>
          <p:cNvSpPr/>
          <p:nvPr/>
        </p:nvSpPr>
        <p:spPr>
          <a:xfrm>
            <a:off x="2258568" y="4151376"/>
            <a:ext cx="164700" cy="164700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"/>
          <p:cNvSpPr/>
          <p:nvPr/>
        </p:nvSpPr>
        <p:spPr>
          <a:xfrm>
            <a:off x="502920" y="4590288"/>
            <a:ext cx="164700" cy="1647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"/>
          <p:cNvSpPr/>
          <p:nvPr/>
        </p:nvSpPr>
        <p:spPr>
          <a:xfrm>
            <a:off x="1819656" y="4590288"/>
            <a:ext cx="164700" cy="164700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"/>
          <p:cNvSpPr/>
          <p:nvPr/>
        </p:nvSpPr>
        <p:spPr>
          <a:xfrm>
            <a:off x="1380744" y="5029200"/>
            <a:ext cx="164700" cy="164700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"/>
          <p:cNvSpPr/>
          <p:nvPr/>
        </p:nvSpPr>
        <p:spPr>
          <a:xfrm>
            <a:off x="2697480" y="5029200"/>
            <a:ext cx="164700" cy="1647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"/>
          <p:cNvSpPr/>
          <p:nvPr/>
        </p:nvSpPr>
        <p:spPr>
          <a:xfrm>
            <a:off x="941832" y="5468112"/>
            <a:ext cx="164700" cy="164700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"/>
          <p:cNvSpPr/>
          <p:nvPr/>
        </p:nvSpPr>
        <p:spPr>
          <a:xfrm>
            <a:off x="2258568" y="5468112"/>
            <a:ext cx="164700" cy="1647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"/>
          <p:cNvSpPr/>
          <p:nvPr/>
        </p:nvSpPr>
        <p:spPr>
          <a:xfrm>
            <a:off x="502920" y="5907024"/>
            <a:ext cx="164700" cy="164700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"/>
          <p:cNvSpPr/>
          <p:nvPr/>
        </p:nvSpPr>
        <p:spPr>
          <a:xfrm>
            <a:off x="1819656" y="5907024"/>
            <a:ext cx="164700" cy="1647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"/>
          <p:cNvSpPr/>
          <p:nvPr/>
        </p:nvSpPr>
        <p:spPr>
          <a:xfrm>
            <a:off x="4206240" y="1325880"/>
            <a:ext cx="7223700" cy="14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FFFFFF"/>
                </a:solidFill>
              </a:rPr>
              <a:t>EVOLUTION </a:t>
            </a: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OF</a:t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STEGANOGRAPHY</a:t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"/>
          <p:cNvSpPr/>
          <p:nvPr/>
        </p:nvSpPr>
        <p:spPr>
          <a:xfrm>
            <a:off x="4251960" y="3035808"/>
            <a:ext cx="72237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7DC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B9C7DC"/>
                </a:solidFill>
                <a:latin typeface="Arial"/>
                <a:ea typeface="Arial"/>
                <a:cs typeface="Arial"/>
                <a:sym typeface="Arial"/>
              </a:rPr>
              <a:t>Ancient methods • modern media • practical LSB coding • steganalysis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"/>
          <p:cNvSpPr/>
          <p:nvPr/>
        </p:nvSpPr>
        <p:spPr>
          <a:xfrm>
            <a:off x="4261104" y="3813048"/>
            <a:ext cx="1417200" cy="274200"/>
          </a:xfrm>
          <a:prstGeom prst="roundRect">
            <a:avLst>
              <a:gd fmla="val 26667" name="adj"/>
            </a:avLst>
          </a:prstGeom>
          <a:solidFill>
            <a:srgbClr val="11314A"/>
          </a:solidFill>
          <a:ln cap="flat" cmpd="sng" w="12700">
            <a:solidFill>
              <a:srgbClr val="1131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"/>
          <p:cNvSpPr/>
          <p:nvPr/>
        </p:nvSpPr>
        <p:spPr>
          <a:xfrm>
            <a:off x="4325112" y="3858768"/>
            <a:ext cx="1289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SOURCE-BASED DECK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"/>
          <p:cNvSpPr/>
          <p:nvPr/>
        </p:nvSpPr>
        <p:spPr>
          <a:xfrm>
            <a:off x="4261104" y="4251960"/>
            <a:ext cx="7132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E1E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8E1EF"/>
                </a:solidFill>
                <a:latin typeface="Arial"/>
                <a:ea typeface="Arial"/>
                <a:cs typeface="Arial"/>
                <a:sym typeface="Arial"/>
              </a:rPr>
              <a:t>Based on the uploaded article “Ancient and Modern Steganography”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"/>
          <p:cNvSpPr/>
          <p:nvPr/>
        </p:nvSpPr>
        <p:spPr>
          <a:xfrm>
            <a:off x="4261104" y="4718304"/>
            <a:ext cx="7132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A8C2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5A8C2"/>
                </a:solidFill>
                <a:latin typeface="Arial"/>
                <a:ea typeface="Arial"/>
                <a:cs typeface="Arial"/>
                <a:sym typeface="Arial"/>
              </a:rPr>
              <a:t>Prepared by : SOMU R  2025541061</a:t>
            </a:r>
            <a:endParaRPr/>
          </a:p>
        </p:txBody>
      </p:sp>
      <p:sp>
        <p:nvSpPr>
          <p:cNvPr id="73" name="Google Shape;73;p1"/>
          <p:cNvSpPr txBox="1"/>
          <p:nvPr>
            <p:ph idx="4294967295" type="sldNum"/>
          </p:nvPr>
        </p:nvSpPr>
        <p:spPr>
          <a:xfrm>
            <a:off x="11658600" y="6510528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2563EB"/>
                </a:solidFill>
              </a:rPr>
              <a:t>01 • FOUNDATION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2233F"/>
                </a:solidFill>
              </a:rPr>
              <a:t>What is steganography?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640080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07592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563EB"/>
                </a:solidFill>
              </a:rPr>
              <a:t>“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24128" y="1435608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2233F"/>
                </a:solidFill>
              </a:rPr>
              <a:t>“Putting information in a medium without causing significant and statistically difference in the medium.”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6400800" cy="2788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500" dirty="0">
                <a:solidFill>
                  <a:srgbClr val="18212F"/>
                </a:solidFill>
              </a:rPr>
              <a:t>The article frames steganography as “cover writing” - information is concealed so it can pass from sender to receiver without attracting notice.</a:t>
            </a:r>
            <a:endParaRPr lang="en-US" sz="1500" dirty="0"/>
          </a:p>
          <a:p>
            <a:r>
              <a:rPr lang="en-US" sz="1500" dirty="0">
                <a:solidFill>
                  <a:srgbClr val="18212F"/>
                </a:solidFill>
              </a:rPr>
              <a:t>Its central idea is concealment, while cryptography primarily transforms information into an unreadable form.</a:t>
            </a:r>
            <a:endParaRPr lang="en-US" sz="1500" dirty="0"/>
          </a:p>
          <a:p>
            <a:r>
              <a:rPr lang="en-US" sz="1500" dirty="0">
                <a:solidFill>
                  <a:srgbClr val="18212F"/>
                </a:solidFill>
              </a:rPr>
              <a:t>The sender creates a “sublime channel” so the communication medium itself does not look suspicious.</a:t>
            </a:r>
            <a:endParaRPr lang="en-US" sz="1500" dirty="0"/>
          </a:p>
        </p:txBody>
      </p:sp>
      <p:pic>
        <p:nvPicPr>
          <p:cNvPr id="8" name="Image 0" descr="/mnt/data/steg_crops/p1_prison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234440"/>
            <a:ext cx="4160520" cy="36118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315200" y="1234440"/>
            <a:ext cx="4160520" cy="36118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543800" y="4965192"/>
            <a:ext cx="2011680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07808" y="5010912"/>
            <a:ext cx="1883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EB"/>
                </a:solidFill>
              </a:rPr>
              <a:t>PRISONERS’ PROBLEM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7360920" y="534924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77A"/>
                </a:solidFill>
              </a:rPr>
              <a:t>Alice sends to Bob through a guarded channel; the communication must blend into a normal medium.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02920" y="619963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i="1" dirty="0">
                <a:solidFill>
                  <a:srgbClr val="64748B"/>
                </a:solidFill>
              </a:rPr>
              <a:t>Source: Saugata Dutta &amp; Dr. Om Prakash, “Ancient and Modern Steganography”, Asian Journal of Convergence in Technology, Vol. II, Issue III.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2563EB"/>
                </a:solidFill>
              </a:rPr>
              <a:t>02 • CONCEPT CHECK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2233F"/>
                </a:solidFill>
              </a:rPr>
              <a:t>Steganography vs. cryptography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530352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1234440"/>
            <a:ext cx="530352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572768"/>
            <a:ext cx="1463040" cy="27432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618488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EB"/>
                </a:solidFill>
              </a:rPr>
              <a:t>STEGANOGRAPHY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92240" y="1572768"/>
            <a:ext cx="1463040" cy="274320"/>
          </a:xfrm>
          <a:prstGeom prst="roundRect">
            <a:avLst>
              <a:gd name="adj" fmla="val 26667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56248" y="1618488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</a:rPr>
              <a:t>CRYPTOGRAPHY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14400" y="2057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77A"/>
                </a:solidFill>
              </a:rPr>
              <a:t>Goal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0" y="2057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2233F"/>
                </a:solidFill>
              </a:rPr>
              <a:t>Hide the existence of the message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37960" y="2057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77A"/>
                </a:solidFill>
              </a:rPr>
              <a:t>Goal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52360" y="20574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2233F"/>
                </a:solidFill>
              </a:rPr>
              <a:t>Protect message meaning by transformation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2651760"/>
            <a:ext cx="4480560" cy="2240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350" dirty="0">
                <a:solidFill>
                  <a:srgbClr val="18212F"/>
                </a:solidFill>
              </a:rPr>
              <a:t>Cover medium remains usable after embedding.</a:t>
            </a:r>
            <a:endParaRPr lang="en-US" sz="1350" dirty="0"/>
          </a:p>
          <a:p>
            <a:r>
              <a:rPr lang="en-US" sz="1350" dirty="0">
                <a:solidFill>
                  <a:srgbClr val="18212F"/>
                </a:solidFill>
              </a:rPr>
              <a:t>Detection is the key challenge: can an observer tell something is hidden?</a:t>
            </a:r>
            <a:endParaRPr lang="en-US" sz="1350" dirty="0"/>
          </a:p>
          <a:p>
            <a:r>
              <a:rPr lang="en-US" sz="1350" dirty="0">
                <a:solidFill>
                  <a:srgbClr val="18212F"/>
                </a:solidFill>
              </a:rPr>
              <a:t>Often combined with encryption for added security.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537960" y="2651760"/>
            <a:ext cx="4526280" cy="2240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350" dirty="0">
                <a:solidFill>
                  <a:srgbClr val="18212F"/>
                </a:solidFill>
              </a:rPr>
              <a:t>Ciphertext is intentionally apparent as transformed data.</a:t>
            </a:r>
            <a:endParaRPr lang="en-US" sz="1350" dirty="0"/>
          </a:p>
          <a:p>
            <a:r>
              <a:rPr lang="en-US" sz="1350" dirty="0">
                <a:solidFill>
                  <a:srgbClr val="18212F"/>
                </a:solidFill>
              </a:rPr>
              <a:t>Security depends on the cryptographic construction/key.</a:t>
            </a:r>
            <a:endParaRPr lang="en-US" sz="1350" dirty="0"/>
          </a:p>
          <a:p>
            <a:r>
              <a:rPr lang="en-US" sz="1350" dirty="0">
                <a:solidFill>
                  <a:srgbClr val="18212F"/>
                </a:solidFill>
              </a:rPr>
              <a:t>The article explicitly warns not to confuse the two.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916168" y="1463040"/>
            <a:ext cx="0" cy="39776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619963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i="1" dirty="0">
                <a:solidFill>
                  <a:srgbClr val="64748B"/>
                </a:solidFill>
              </a:rPr>
              <a:t>Source: Saugata Dutta &amp; Dr. Om Prakash, “Ancient and Modern Steganography”, Asian Journal of Convergence in Technology, Vol. II, Issue III.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2563EB"/>
                </a:solidFill>
              </a:rPr>
              <a:t>03 •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2233F"/>
                </a:solidFill>
              </a:rPr>
              <a:t>Basic steganography process</a:t>
            </a:r>
            <a:endParaRPr lang="en-US" sz="2600" dirty="0"/>
          </a:p>
        </p:txBody>
      </p:sp>
      <p:pic>
        <p:nvPicPr>
          <p:cNvPr id="4" name="Image 0" descr="/mnt/data/steg_crops/p1_basic_proc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07008"/>
            <a:ext cx="5577840" cy="4526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207008"/>
            <a:ext cx="5577840" cy="45262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537960" y="1234440"/>
            <a:ext cx="49834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39712" y="1572768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39712" y="166420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360920" y="155448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33F"/>
                </a:solidFill>
              </a:rPr>
              <a:t>Secret message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006840" y="15544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77A"/>
                </a:solidFill>
              </a:rPr>
              <a:t>payload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839712" y="2295144"/>
            <a:ext cx="384048" cy="38404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39712" y="238658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233F"/>
                </a:solidFill>
              </a:rPr>
              <a:t>2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360920" y="227685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33F"/>
                </a:solidFill>
              </a:rPr>
              <a:t>Cover medium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9006840" y="227685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77A"/>
                </a:solidFill>
              </a:rPr>
              <a:t>image / text / audio / video / protocol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839712" y="3017520"/>
            <a:ext cx="384048" cy="38404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39712" y="310896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233F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360920" y="299923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33F"/>
                </a:solidFill>
              </a:rPr>
              <a:t>Stego encoder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9006840" y="299923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77A"/>
                </a:solidFill>
              </a:rPr>
              <a:t>embedding function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839712" y="3739896"/>
            <a:ext cx="384048" cy="38404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839712" y="383133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233F"/>
                </a:solidFill>
              </a:rPr>
              <a:t>4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360920" y="372160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33F"/>
                </a:solidFill>
              </a:rPr>
              <a:t>Stego object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9006840" y="372160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77A"/>
                </a:solidFill>
              </a:rPr>
              <a:t>normal-looking carrier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839712" y="4462272"/>
            <a:ext cx="384048" cy="38404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39712" y="4553712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233F"/>
                </a:solidFill>
              </a:rPr>
              <a:t>5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7360920" y="444398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33F"/>
                </a:solidFill>
              </a:rPr>
              <a:t>Decoder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9006840" y="444398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77A"/>
                </a:solidFill>
              </a:rPr>
              <a:t>extract hidden message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502920" y="619963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i="1" dirty="0">
                <a:solidFill>
                  <a:srgbClr val="64748B"/>
                </a:solidFill>
              </a:rPr>
              <a:t>Source: Saugata Dutta &amp; Dr. Om Prakash, “Ancient and Modern Steganography”, Asian Journal of Convergence in Technology, Vol. II, Issue III.</a:t>
            </a:r>
            <a:endParaRPr lang="en-US" sz="72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2563EB"/>
                </a:solidFill>
              </a:rPr>
              <a:t>04 • EVOLUTION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2233F"/>
                </a:solidFill>
              </a:rPr>
              <a:t>From ancient concealment to digital carriers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60120" y="2971800"/>
            <a:ext cx="187452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624328"/>
            <a:ext cx="640080" cy="640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79806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3493008"/>
            <a:ext cx="1965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233F"/>
                </a:solidFill>
              </a:rPr>
              <a:t>Ancient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6928" y="3931920"/>
            <a:ext cx="20299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77A"/>
                </a:solidFill>
              </a:rPr>
              <a:t>wax tablets • body vectors • geoglyphs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2971800"/>
            <a:ext cx="187452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71800" y="2624328"/>
            <a:ext cx="640080" cy="640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71800" y="279806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926080" y="3493008"/>
            <a:ext cx="1965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233F"/>
                </a:solidFill>
              </a:rPr>
              <a:t>Classical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898648" y="3931920"/>
            <a:ext cx="20299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77A"/>
                </a:solidFill>
              </a:rPr>
              <a:t>Cardan grille • text hiding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23560" y="2971800"/>
            <a:ext cx="187452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03520" y="2624328"/>
            <a:ext cx="640080" cy="640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0" y="279806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257800" y="3493008"/>
            <a:ext cx="1965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233F"/>
                </a:solidFill>
              </a:rPr>
              <a:t>WWII era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230368" y="3931920"/>
            <a:ext cx="20299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77A"/>
                </a:solidFill>
              </a:rPr>
              <a:t>microdots • sign language • quilts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55280" y="2971800"/>
            <a:ext cx="187452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35240" y="2624328"/>
            <a:ext cx="640080" cy="640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35240" y="279806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589520" y="3493008"/>
            <a:ext cx="1965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233F"/>
                </a:solidFill>
              </a:rPr>
              <a:t>Digital image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562088" y="3931920"/>
            <a:ext cx="20299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77A"/>
                </a:solidFill>
              </a:rPr>
              <a:t>LSB • PVD • transform domain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287000" y="2971800"/>
            <a:ext cx="1874520" cy="0"/>
          </a:xfrm>
          <a:prstGeom prst="line">
            <a:avLst/>
          </a:prstGeom>
          <a:noFill/>
          <a:ln w="381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966960" y="2624328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966960" y="279806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921240" y="3493008"/>
            <a:ext cx="1965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233F"/>
                </a:solidFill>
              </a:rPr>
              <a:t>Multimedia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893808" y="3931920"/>
            <a:ext cx="20299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77A"/>
                </a:solidFill>
              </a:rPr>
              <a:t>image • text • audio • video • protocol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4400" y="141732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8212F"/>
                </a:solidFill>
              </a:rPr>
              <a:t>The article’s central message: the medium and technique change over time, but the concealment objective remains.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502920" y="619963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i="1" dirty="0">
                <a:solidFill>
                  <a:srgbClr val="64748B"/>
                </a:solidFill>
              </a:rPr>
              <a:t>Source: Saugata Dutta &amp; Dr. Om Prakash, “Ancient and Modern Steganography”, Asian Journal of Convergence in Technology, Vol. II, Issue III.</a:t>
            </a:r>
            <a:endParaRPr lang="en-US" sz="72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2563EB"/>
                </a:solidFill>
              </a:rPr>
              <a:t>05 • HISTORY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2233F"/>
                </a:solidFill>
              </a:rPr>
              <a:t>Ancient steganography: hiding in plain sight</a:t>
            </a:r>
            <a:endParaRPr lang="en-US" sz="2600" dirty="0"/>
          </a:p>
        </p:txBody>
      </p:sp>
      <p:pic>
        <p:nvPicPr>
          <p:cNvPr id="4" name="Image 0" descr="/mnt/data/steg_crops/p3_wa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98448"/>
            <a:ext cx="3749040" cy="2240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1298448"/>
            <a:ext cx="3749040" cy="22402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6" name="Image 1" descr="/mnt/data/steg_crops/p3_nazc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8848" y="1298448"/>
            <a:ext cx="3749040" cy="22402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498848" y="1298448"/>
            <a:ext cx="3749040" cy="22402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2" descr="/mnt/data/steg_crops/p3_gril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1298448"/>
            <a:ext cx="3154680" cy="224028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8412480" y="1298448"/>
            <a:ext cx="3154680" cy="22402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1554480" y="3721608"/>
            <a:ext cx="1097280" cy="274320"/>
          </a:xfrm>
          <a:prstGeom prst="roundRect">
            <a:avLst>
              <a:gd name="adj" fmla="val 26667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1618488" y="3767328"/>
            <a:ext cx="969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</a:rPr>
              <a:t>WAX TABLET</a:t>
            </a:r>
            <a:endParaRPr lang="en-US" sz="800" dirty="0"/>
          </a:p>
        </p:txBody>
      </p:sp>
      <p:sp>
        <p:nvSpPr>
          <p:cNvPr id="12" name="Shape 7"/>
          <p:cNvSpPr/>
          <p:nvPr/>
        </p:nvSpPr>
        <p:spPr>
          <a:xfrm>
            <a:off x="5788152" y="3721608"/>
            <a:ext cx="1143000" cy="27432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5852160" y="3767328"/>
            <a:ext cx="1014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EB"/>
                </a:solidFill>
              </a:rPr>
              <a:t>GEOGLYPHS</a:t>
            </a:r>
            <a:endParaRPr lang="en-US" sz="800" dirty="0"/>
          </a:p>
        </p:txBody>
      </p:sp>
      <p:sp>
        <p:nvSpPr>
          <p:cNvPr id="14" name="Shape 9"/>
          <p:cNvSpPr/>
          <p:nvPr/>
        </p:nvSpPr>
        <p:spPr>
          <a:xfrm>
            <a:off x="9189720" y="3721608"/>
            <a:ext cx="1417320" cy="274320"/>
          </a:xfrm>
          <a:prstGeom prst="roundRect">
            <a:avLst>
              <a:gd name="adj" fmla="val 26667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9253728" y="3767328"/>
            <a:ext cx="1289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</a:rPr>
              <a:t>CARDAN GRILLE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667512" y="4187952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8212F"/>
                </a:solidFill>
              </a:rPr>
              <a:t>Demaratus wrote on the wood backing of a wax tablet and covered it with beeswax.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4553712" y="4187952"/>
            <a:ext cx="35844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18212F"/>
                </a:solidFill>
              </a:rPr>
              <a:t>The article cites the Nazca Lines, Uffington White Horse, Cerne Abbas Giant and other figures visible from the air as examples of large-scale hidden communication.</a:t>
            </a:r>
            <a:endParaRPr lang="en-US" sz="1160" dirty="0"/>
          </a:p>
        </p:txBody>
      </p:sp>
      <p:sp>
        <p:nvSpPr>
          <p:cNvPr id="18" name="Text 13"/>
          <p:cNvSpPr/>
          <p:nvPr/>
        </p:nvSpPr>
        <p:spPr>
          <a:xfrm>
            <a:off x="8412480" y="4187952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18212F"/>
                </a:solidFill>
              </a:rPr>
              <a:t>Cardan Grille uses a prepared grid with apertures; the message is written through the holes and then disguised by ordinary-looking text.</a:t>
            </a:r>
            <a:endParaRPr lang="en-US" sz="1160" dirty="0"/>
          </a:p>
        </p:txBody>
      </p:sp>
      <p:sp>
        <p:nvSpPr>
          <p:cNvPr id="19" name="Text 14"/>
          <p:cNvSpPr/>
          <p:nvPr/>
        </p:nvSpPr>
        <p:spPr>
          <a:xfrm>
            <a:off x="502920" y="619963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i="1" dirty="0">
                <a:solidFill>
                  <a:srgbClr val="64748B"/>
                </a:solidFill>
              </a:rPr>
              <a:t>Source: Saugata Dutta &amp; Dr. Om Prakash, “Ancient and Modern Steganography”, Asian Journal of Convergence in Technology, Vol. II, Issue III.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2563EB"/>
                </a:solidFill>
              </a:rPr>
              <a:t>06 • EXAMPLES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2233F"/>
                </a:solidFill>
              </a:rPr>
              <a:t>WWII and historic practical vectors</a:t>
            </a:r>
            <a:endParaRPr lang="en-US" sz="2600" dirty="0"/>
          </a:p>
        </p:txBody>
      </p:sp>
      <p:pic>
        <p:nvPicPr>
          <p:cNvPr id="4" name="Image 0" descr="/mnt/data/steg_crops/p4_microd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80160"/>
            <a:ext cx="3794760" cy="2331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280160"/>
            <a:ext cx="3794760" cy="23317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6" name="Image 1" descr="/mnt/data/steg_crops/p4_qui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886200"/>
            <a:ext cx="3794760" cy="19659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40080" y="3886200"/>
            <a:ext cx="3794760" cy="19659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4800600" y="1298448"/>
            <a:ext cx="6720840" cy="4553712"/>
          </a:xfrm>
          <a:prstGeom prst="roundRect">
            <a:avLst>
              <a:gd name="adj" fmla="val 16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5166360" y="1664208"/>
            <a:ext cx="1051560" cy="274320"/>
          </a:xfrm>
          <a:prstGeom prst="roundRect">
            <a:avLst>
              <a:gd name="adj" fmla="val 26667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230368" y="1709928"/>
            <a:ext cx="923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C2626"/>
                </a:solidFill>
              </a:rPr>
              <a:t>MICRODOTS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5166360" y="208483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2233F"/>
                </a:solidFill>
              </a:rPr>
              <a:t>Tiny reproductions could carry pages of information while appearing unremarkable.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166360" y="2788920"/>
            <a:ext cx="1417320" cy="27432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230368" y="2834640"/>
            <a:ext cx="1289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EB"/>
                </a:solidFill>
              </a:rPr>
              <a:t>BEAR PAW SYMBOL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5166360" y="320040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8212F"/>
                </a:solidFill>
              </a:rPr>
              <a:t>The article describes quilt patterns as an alleged practical vector for guiding escaped slaves, including the Bear Paw symbol.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166360" y="4297680"/>
            <a:ext cx="1965960" cy="274320"/>
          </a:xfrm>
          <a:prstGeom prst="roundRect">
            <a:avLst>
              <a:gd name="adj" fmla="val 26667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230368" y="4343400"/>
            <a:ext cx="1837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</a:rPr>
              <a:t>LESSON FOR MODERN SYSTEMS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5166360" y="4700016"/>
            <a:ext cx="5806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2233F"/>
                </a:solidFill>
              </a:rPr>
              <a:t>Steganography succeeds when the carrier has a plausible reason to exist. The hiding mechanism should not become the story.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502920" y="619963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i="1" dirty="0">
                <a:solidFill>
                  <a:srgbClr val="64748B"/>
                </a:solidFill>
              </a:rPr>
              <a:t>Source: Saugata Dutta &amp; Dr. Om Prakash, “Ancient and Modern Steganography”, Asian Journal of Convergence in Technology, Vol. II, Issue III.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2563EB"/>
                </a:solidFill>
              </a:rPr>
              <a:t>07 • MEDIA TYPES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2233F"/>
                </a:solidFill>
              </a:rPr>
              <a:t>Modern steganography: the carrier landscape</a:t>
            </a:r>
            <a:endParaRPr lang="en-US" sz="2600" dirty="0"/>
          </a:p>
        </p:txBody>
      </p:sp>
      <p:pic>
        <p:nvPicPr>
          <p:cNvPr id="4" name="Image 0" descr="/mnt/data/steg_crops/p4_typ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325880"/>
            <a:ext cx="4617720" cy="2926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" y="1325880"/>
            <a:ext cx="4617720" cy="29260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532120" y="1298448"/>
            <a:ext cx="56235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532120" y="1298448"/>
            <a:ext cx="128016" cy="7132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06440" y="142646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233F"/>
                </a:solidFill>
              </a:rPr>
              <a:t>TEXT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76288" y="1426464"/>
            <a:ext cx="3950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77A"/>
                </a:solidFill>
              </a:rPr>
              <a:t>selection • HTML • spaces • shifting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532120" y="2212848"/>
            <a:ext cx="56235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532120" y="2212848"/>
            <a:ext cx="128016" cy="7132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06440" y="234086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233F"/>
                </a:solidFill>
              </a:rPr>
              <a:t>IMAGE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876288" y="2340864"/>
            <a:ext cx="3950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77A"/>
                </a:solidFill>
              </a:rPr>
              <a:t>spatial domain • LSB • PVD • transform domain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532120" y="3127248"/>
            <a:ext cx="56235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532120" y="3127248"/>
            <a:ext cx="128016" cy="7132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06440" y="325526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233F"/>
                </a:solidFill>
              </a:rPr>
              <a:t>AUDIO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876288" y="3255264"/>
            <a:ext cx="3950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77A"/>
                </a:solidFill>
              </a:rPr>
              <a:t>MP3/WAV • sampling • echo hiding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532120" y="4041648"/>
            <a:ext cx="56235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532120" y="4041648"/>
            <a:ext cx="128016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06440" y="416966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233F"/>
                </a:solidFill>
              </a:rPr>
              <a:t>VIDEO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876288" y="4169664"/>
            <a:ext cx="3950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77A"/>
                </a:solidFill>
              </a:rPr>
              <a:t>image + audio techniques across frames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532120" y="4956048"/>
            <a:ext cx="56235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532120" y="4956048"/>
            <a:ext cx="128016" cy="7132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06440" y="508406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233F"/>
                </a:solidFill>
              </a:rPr>
              <a:t>PROTOCOL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876288" y="5084064"/>
            <a:ext cx="3950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77A"/>
                </a:solidFill>
              </a:rPr>
              <a:t>TCP/IP headers • packet length • VoIP/SIP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731520" y="466344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233F"/>
                </a:solidFill>
              </a:rPr>
              <a:t>The article explicitly identifies five modern categories: text, image, audio, video and protocol steganography.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502920" y="619963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i="1" dirty="0">
                <a:solidFill>
                  <a:srgbClr val="64748B"/>
                </a:solidFill>
              </a:rPr>
              <a:t>Source: Saugata Dutta &amp; Dr. Om Prakash, “Ancient and Modern Steganography”, Asian Journal of Convergence in Technology, Vol. II, Issue III.</a:t>
            </a:r>
            <a:endParaRPr lang="en-US" sz="72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2563EB"/>
                </a:solidFill>
              </a:rPr>
              <a:t>08 • DEEP DIVE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2233F"/>
                </a:solidFill>
              </a:rPr>
              <a:t>Image steganography and the LSB idea</a:t>
            </a:r>
            <a:endParaRPr lang="en-US" sz="2600" dirty="0"/>
          </a:p>
        </p:txBody>
      </p:sp>
      <p:pic>
        <p:nvPicPr>
          <p:cNvPr id="4" name="Image 0" descr="/mnt/data/steg_crops/p4_image_ste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4572000" cy="3611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325880"/>
            <a:ext cx="4572000" cy="36118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40680" y="1298448"/>
            <a:ext cx="6053328" cy="3639312"/>
          </a:xfrm>
          <a:prstGeom prst="roundRect">
            <a:avLst>
              <a:gd name="adj" fmla="val 20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42432" y="1645920"/>
            <a:ext cx="1234440" cy="27432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06440" y="1691640"/>
            <a:ext cx="1106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EB"/>
                </a:solidFill>
              </a:rPr>
              <a:t>SOURCE CONCEPT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742432" y="2057400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2233F"/>
                </a:solidFill>
              </a:rPr>
              <a:t>Hide message bits inside low-order image information so the visual change is difficult to notice.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742432" y="2926080"/>
            <a:ext cx="5212080" cy="1600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310" dirty="0">
                <a:solidFill>
                  <a:srgbClr val="18212F"/>
                </a:solidFill>
              </a:rPr>
              <a:t>Common carrier formats cited by the article include JPEG, BMP, GIF and PNG.</a:t>
            </a:r>
            <a:endParaRPr lang="en-US" sz="1310" dirty="0"/>
          </a:p>
          <a:p>
            <a:r>
              <a:rPr lang="en-US" sz="1310" dirty="0">
                <a:solidFill>
                  <a:srgbClr val="18212F"/>
                </a:solidFill>
              </a:rPr>
              <a:t>A key can be optional; when used, the technique can be combined with cryptography.</a:t>
            </a:r>
            <a:endParaRPr lang="en-US" sz="1310" dirty="0"/>
          </a:p>
          <a:p>
            <a:r>
              <a:rPr lang="en-US" sz="1310" dirty="0">
                <a:solidFill>
                  <a:srgbClr val="18212F"/>
                </a:solidFill>
              </a:rPr>
              <a:t>Capacity, image quality and detectability become the practical trade-offs.</a:t>
            </a:r>
            <a:endParaRPr lang="en-US" sz="1310" dirty="0"/>
          </a:p>
        </p:txBody>
      </p:sp>
      <p:sp>
        <p:nvSpPr>
          <p:cNvPr id="11" name="Text 8"/>
          <p:cNvSpPr/>
          <p:nvPr/>
        </p:nvSpPr>
        <p:spPr>
          <a:xfrm>
            <a:off x="502920" y="619963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i="1" dirty="0">
                <a:solidFill>
                  <a:srgbClr val="64748B"/>
                </a:solidFill>
              </a:rPr>
              <a:t>Source: Saugata Dutta &amp; Dr. Om Prakash, “Ancient and Modern Steganography”, Asian Journal of Convergence in Technology, Vol. II, Issue III.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2563EB"/>
                </a:solidFill>
              </a:rPr>
              <a:t>09 • LIVE CODING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2233F"/>
                </a:solidFill>
              </a:rPr>
              <a:t>Practical lab: encode a message with Python + Pillow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6400800" cy="4553712"/>
          </a:xfrm>
          <a:prstGeom prst="roundRect">
            <a:avLst>
              <a:gd name="adj" fmla="val 16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36192"/>
            <a:ext cx="5943600" cy="3931920"/>
          </a:xfrm>
          <a:prstGeom prst="roundRect">
            <a:avLst>
              <a:gd name="adj" fmla="val 1395"/>
            </a:avLst>
          </a:prstGeom>
          <a:solidFill>
            <a:srgbClr val="0F172A"/>
          </a:solidFill>
          <a:ln w="12700">
            <a:solidFill>
              <a:srgbClr val="2332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682496"/>
            <a:ext cx="5614416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PIL import Image</a:t>
            </a:r>
            <a:endParaRPr lang="en-US" sz="1020" dirty="0"/>
          </a:p>
          <a:p>
            <a:pPr marL="0" indent="0">
              <a:buNone/>
            </a:pP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encode(src, dst, message):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img = Image.open(src).convert("RGB")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bits = ''.join(f"{b:08b}" for b in message.encode()) + "00000000"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px = list(img.getdata())</a:t>
            </a:r>
            <a:endParaRPr lang="en-US" sz="1020" dirty="0"/>
          </a:p>
          <a:p>
            <a:pPr marL="0" indent="0">
              <a:buNone/>
            </a:pP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len(bits) &gt; len(px):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raise ValueError("message too large")</a:t>
            </a:r>
            <a:endParaRPr lang="en-US" sz="1020" dirty="0"/>
          </a:p>
          <a:p>
            <a:pPr marL="0" indent="0">
              <a:buNone/>
            </a:pP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 = []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i, (r, g, b) in enumerate(px):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i &lt; len(bits):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 = (r &amp; 254) | int(bits[i])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out.append((r, g, b))</a:t>
            </a:r>
            <a:endParaRPr lang="en-US" sz="1020" dirty="0"/>
          </a:p>
          <a:p>
            <a:pPr marL="0" indent="0">
              <a:buNone/>
            </a:pP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stego = Image.new("RGB", img.size)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stego.putdata(out)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stego.save(dst)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7269480" y="1234440"/>
            <a:ext cx="4224528" cy="4553712"/>
          </a:xfrm>
          <a:prstGeom prst="roundRect">
            <a:avLst>
              <a:gd name="adj" fmla="val 173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71232" y="157276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33F"/>
                </a:solidFill>
              </a:rPr>
              <a:t>What the demo changes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571232" y="2057400"/>
            <a:ext cx="3520440" cy="2468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300" dirty="0">
                <a:solidFill>
                  <a:srgbClr val="18212F"/>
                </a:solidFill>
              </a:rPr>
              <a:t>Only the least-significant bit of the red channel is touched for successive pixels.</a:t>
            </a:r>
            <a:endParaRPr lang="en-US" sz="1300" dirty="0"/>
          </a:p>
          <a:p>
            <a:r>
              <a:rPr lang="en-US" sz="1300" dirty="0">
                <a:solidFill>
                  <a:srgbClr val="18212F"/>
                </a:solidFill>
              </a:rPr>
              <a:t>The cover image remains visually usable.</a:t>
            </a:r>
            <a:endParaRPr lang="en-US" sz="1300" dirty="0"/>
          </a:p>
          <a:p>
            <a:r>
              <a:rPr lang="en-US" sz="1300" dirty="0">
                <a:solidFill>
                  <a:srgbClr val="18212F"/>
                </a:solidFill>
              </a:rPr>
              <a:t>A terminator byte marks the end of the hidden string.</a:t>
            </a:r>
            <a:endParaRPr lang="en-US" sz="1300" dirty="0"/>
          </a:p>
          <a:p>
            <a:r>
              <a:rPr lang="en-US" sz="1300" dirty="0">
                <a:solidFill>
                  <a:srgbClr val="18212F"/>
                </a:solidFill>
              </a:rPr>
              <a:t>In production, add input validation, a key, and a stronger embedding strategy.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571232" y="4645152"/>
            <a:ext cx="1097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677A"/>
                </a:solidFill>
              </a:rPr>
              <a:t>Demo payload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571232" y="49377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Meet me at 18:30 - bring the demo laptop.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619963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i="1" dirty="0">
                <a:solidFill>
                  <a:srgbClr val="64748B"/>
                </a:solidFill>
              </a:rPr>
              <a:t>Source: Saugata Dutta &amp; Dr. Om Prakash, “Ancient and Modern Steganography”, Asian Journal of Convergence in Technology, Vol. II, Issue III.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2563EB"/>
                </a:solidFill>
              </a:rPr>
              <a:t>10 • EXPERIMENT OUTPUT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2233F"/>
                </a:solidFill>
              </a:rPr>
              <a:t>Practical lab result: hide, measure, recover</a:t>
            </a:r>
            <a:endParaRPr lang="en-US" sz="2600" dirty="0"/>
          </a:p>
        </p:txBody>
      </p:sp>
      <p:pic>
        <p:nvPicPr>
          <p:cNvPr id="4" name="Image 0" descr="/mnt/data/steg_demo/carri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2926080" cy="2926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325880"/>
            <a:ext cx="2926080" cy="29260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6" name="Image 1" descr="/mnt/data/steg_demo/ste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1325880"/>
            <a:ext cx="2926080" cy="29260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749040" y="1325880"/>
            <a:ext cx="2926080" cy="29260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2" descr="/mnt/data/steg_demo/diff_x15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1325880"/>
            <a:ext cx="2286000" cy="228600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6858000" y="1325880"/>
            <a:ext cx="2286000" cy="22860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9400032" y="1325880"/>
            <a:ext cx="2103120" cy="29260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9528048" y="162763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563EB"/>
                </a:solidFill>
              </a:rPr>
              <a:t>41</a:t>
            </a:r>
            <a:endParaRPr lang="en-US" sz="2400" dirty="0"/>
          </a:p>
        </p:txBody>
      </p:sp>
      <p:sp>
        <p:nvSpPr>
          <p:cNvPr id="12" name="Text 7"/>
          <p:cNvSpPr/>
          <p:nvPr/>
        </p:nvSpPr>
        <p:spPr>
          <a:xfrm>
            <a:off x="9528048" y="20848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B677A"/>
                </a:solidFill>
              </a:rPr>
              <a:t>payload bytes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9528048" y="254203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563EB"/>
                </a:solidFill>
              </a:rPr>
              <a:t>175</a:t>
            </a:r>
            <a:endParaRPr lang="en-US" sz="2400" dirty="0"/>
          </a:p>
        </p:txBody>
      </p:sp>
      <p:sp>
        <p:nvSpPr>
          <p:cNvPr id="14" name="Text 9"/>
          <p:cNvSpPr/>
          <p:nvPr/>
        </p:nvSpPr>
        <p:spPr>
          <a:xfrm>
            <a:off x="9528048" y="29992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B677A"/>
                </a:solidFill>
              </a:rPr>
              <a:t>pixels changed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9528048" y="345643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563EB"/>
                </a:solidFill>
              </a:rPr>
              <a:t>84.66 dB</a:t>
            </a:r>
            <a:endParaRPr lang="en-US" sz="2400" dirty="0"/>
          </a:p>
        </p:txBody>
      </p:sp>
      <p:sp>
        <p:nvSpPr>
          <p:cNvPr id="16" name="Text 11"/>
          <p:cNvSpPr/>
          <p:nvPr/>
        </p:nvSpPr>
        <p:spPr>
          <a:xfrm>
            <a:off x="9528048" y="39136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B677A"/>
                </a:solidFill>
              </a:rPr>
              <a:t>demo PSNR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7059168" y="3776472"/>
            <a:ext cx="1874520" cy="274320"/>
          </a:xfrm>
          <a:prstGeom prst="roundRect">
            <a:avLst>
              <a:gd name="adj" fmla="val 26667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7123176" y="3822192"/>
            <a:ext cx="1746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C2626"/>
                </a:solidFill>
              </a:rPr>
              <a:t>AMPLIFIED DIFFERENCE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6931152" y="416052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5B677A"/>
                </a:solidFill>
              </a:rPr>
              <a:t>The third image magnifies channel changes; they are not intended to be visible at normal viewing scale.</a:t>
            </a:r>
            <a:endParaRPr lang="en-US" sz="1120" dirty="0"/>
          </a:p>
        </p:txBody>
      </p:sp>
      <p:sp>
        <p:nvSpPr>
          <p:cNvPr id="20" name="Shape 15"/>
          <p:cNvSpPr/>
          <p:nvPr/>
        </p:nvSpPr>
        <p:spPr>
          <a:xfrm>
            <a:off x="640080" y="4526280"/>
            <a:ext cx="10863072" cy="1078992"/>
          </a:xfrm>
          <a:prstGeom prst="roundRect">
            <a:avLst>
              <a:gd name="adj" fmla="val 678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914400" y="480060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5B4FC"/>
                </a:solidFill>
              </a:rPr>
              <a:t>Decoded message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2286000" y="472744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Meet me at 18:30 - bring the demo laptop.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502920" y="619963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i="1" dirty="0">
                <a:solidFill>
                  <a:srgbClr val="64748B"/>
                </a:solidFill>
              </a:rPr>
              <a:t>Source: Saugata Dutta &amp; Dr. Om Prakash, “Ancient and Modern Steganography”, Asian Journal of Convergence in Technology, Vol. II, Issue III.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2563EB"/>
                </a:solidFill>
              </a:rPr>
              <a:t>11 • LIVE CODING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2233F"/>
                </a:solidFill>
              </a:rPr>
              <a:t>Decode path: recover the hidden message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64008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645920"/>
            <a:ext cx="5852160" cy="3246120"/>
          </a:xfrm>
          <a:prstGeom prst="roundRect">
            <a:avLst>
              <a:gd name="adj" fmla="val 1690"/>
            </a:avLst>
          </a:prstGeom>
          <a:solidFill>
            <a:srgbClr val="0F172A"/>
          </a:solidFill>
          <a:ln w="12700">
            <a:solidFill>
              <a:srgbClr val="2332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1792224"/>
            <a:ext cx="5522976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PIL import Image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decode(src):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img = Image.open(src).convert("RGB")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bits = ''.join(str(r &amp; 1) for r, g, b in img.getdata())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raw = bytes(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int(bits[i:i+8], 2)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i in range(0, len(bits) - 7, 8)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raw.split(b"\x00")[0].decode("utf-8")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print(decode("stego.png"))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509320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677A"/>
                </a:solidFill>
              </a:rPr>
              <a:t>Console output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14400" y="5321808"/>
            <a:ext cx="5833872" cy="41148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2700">
            <a:solidFill>
              <a:srgbClr val="2332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5468112"/>
            <a:ext cx="5504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Meet me at 18:30 - bring the demo laptop.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7360920" y="1298448"/>
            <a:ext cx="4133088" cy="4526280"/>
          </a:xfrm>
          <a:prstGeom prst="roundRect">
            <a:avLst>
              <a:gd name="adj" fmla="val 177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99248" y="166420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33F"/>
                </a:solidFill>
              </a:rPr>
              <a:t>What should we evaluate?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26680" y="224028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563EB"/>
                </a:solidFill>
              </a:rPr>
              <a:t>Capacity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942832" y="223113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B677A"/>
                </a:solidFill>
              </a:rPr>
              <a:t>How much payload can the carrier safely hold?</a:t>
            </a:r>
            <a:endParaRPr lang="en-US" sz="1070" dirty="0"/>
          </a:p>
        </p:txBody>
      </p:sp>
      <p:sp>
        <p:nvSpPr>
          <p:cNvPr id="14" name="Text 12"/>
          <p:cNvSpPr/>
          <p:nvPr/>
        </p:nvSpPr>
        <p:spPr>
          <a:xfrm>
            <a:off x="7726680" y="303580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563EB"/>
                </a:solidFill>
              </a:rPr>
              <a:t>Imperceptibility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942832" y="3026664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B677A"/>
                </a:solidFill>
              </a:rPr>
              <a:t>Can a human observer notice the change?</a:t>
            </a:r>
            <a:endParaRPr lang="en-US" sz="1070" dirty="0"/>
          </a:p>
        </p:txBody>
      </p:sp>
      <p:sp>
        <p:nvSpPr>
          <p:cNvPr id="16" name="Text 14"/>
          <p:cNvSpPr/>
          <p:nvPr/>
        </p:nvSpPr>
        <p:spPr>
          <a:xfrm>
            <a:off x="7726680" y="383133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563EB"/>
                </a:solidFill>
              </a:rPr>
              <a:t>Detectability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942832" y="382219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B677A"/>
                </a:solidFill>
              </a:rPr>
              <a:t>Can statistical analysis flag the stego object?</a:t>
            </a:r>
            <a:endParaRPr lang="en-US" sz="1070" dirty="0"/>
          </a:p>
        </p:txBody>
      </p:sp>
      <p:sp>
        <p:nvSpPr>
          <p:cNvPr id="18" name="Text 16"/>
          <p:cNvSpPr/>
          <p:nvPr/>
        </p:nvSpPr>
        <p:spPr>
          <a:xfrm>
            <a:off x="7726680" y="462686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563EB"/>
                </a:solidFill>
              </a:rPr>
              <a:t>Robustness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942832" y="46177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B677A"/>
                </a:solidFill>
              </a:rPr>
              <a:t>Does hidden data survive processing/compression?</a:t>
            </a:r>
            <a:endParaRPr lang="en-US" sz="1070" dirty="0"/>
          </a:p>
        </p:txBody>
      </p:sp>
      <p:sp>
        <p:nvSpPr>
          <p:cNvPr id="20" name="Text 18"/>
          <p:cNvSpPr/>
          <p:nvPr/>
        </p:nvSpPr>
        <p:spPr>
          <a:xfrm>
            <a:off x="7699248" y="516636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i="1" dirty="0">
                <a:solidFill>
                  <a:srgbClr val="5B677A"/>
                </a:solidFill>
              </a:rPr>
              <a:t>These four criteria are a practical extension for evaluating a demo; the source primarily emphasizes image quality, secrecy and steganalysis.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2920" y="619963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i="1" dirty="0">
                <a:solidFill>
                  <a:srgbClr val="64748B"/>
                </a:solidFill>
              </a:rPr>
              <a:t>Source: Saugata Dutta &amp; Dr. Om Prakash, “Ancient and Modern Steganography”, Asian Journal of Convergence in Technology, Vol. II, Issue III.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2563EB"/>
                </a:solidFill>
              </a:rPr>
              <a:t>12 • MULTIMEDIA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2233F"/>
                </a:solidFill>
              </a:rPr>
              <a:t>Audio, video and protocol steganography</a:t>
            </a:r>
            <a:endParaRPr lang="en-US" sz="2600" dirty="0"/>
          </a:p>
        </p:txBody>
      </p:sp>
      <p:pic>
        <p:nvPicPr>
          <p:cNvPr id="4" name="Image 0" descr="/mnt/data/steg_crops/p5_aud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98448"/>
            <a:ext cx="3886200" cy="2240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1298448"/>
            <a:ext cx="3886200" cy="22402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6" name="Image 1" descr="/mnt/data/steg_crops/p5_hi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1298448"/>
            <a:ext cx="3566160" cy="22402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818120" y="1298448"/>
            <a:ext cx="3566160" cy="22402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4636008" y="1298448"/>
            <a:ext cx="2834640" cy="434340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919472" y="1645920"/>
            <a:ext cx="868680" cy="274320"/>
          </a:xfrm>
          <a:prstGeom prst="roundRect">
            <a:avLst>
              <a:gd name="adj" fmla="val 26667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983480" y="1691640"/>
            <a:ext cx="740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</a:rPr>
              <a:t>AUDIO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4919472" y="2057400"/>
            <a:ext cx="225856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18212F"/>
                </a:solidFill>
              </a:rPr>
              <a:t>Hides secret data inside audio. The article mentions MP3 and WAV, with attributes such as sampling rate, amplification, noise, quantization, encoding/decoding, filtering and transcoding.</a:t>
            </a:r>
            <a:endParaRPr lang="en-US" sz="1160" dirty="0"/>
          </a:p>
        </p:txBody>
      </p:sp>
      <p:sp>
        <p:nvSpPr>
          <p:cNvPr id="12" name="Shape 8"/>
          <p:cNvSpPr/>
          <p:nvPr/>
        </p:nvSpPr>
        <p:spPr>
          <a:xfrm>
            <a:off x="7827264" y="3822192"/>
            <a:ext cx="868680" cy="274320"/>
          </a:xfrm>
          <a:prstGeom prst="roundRect">
            <a:avLst>
              <a:gd name="adj" fmla="val 26667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891272" y="3867912"/>
            <a:ext cx="740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</a:rPr>
              <a:t>VIDEO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7827264" y="4224528"/>
            <a:ext cx="35295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8212F"/>
                </a:solidFill>
              </a:rPr>
              <a:t>Video combines image and audio carriers. The source notes that more data may be embedded while distortion can remain less obvious because video is continuous.</a:t>
            </a:r>
            <a:endParaRPr lang="en-US" sz="1140" dirty="0"/>
          </a:p>
        </p:txBody>
      </p:sp>
      <p:sp>
        <p:nvSpPr>
          <p:cNvPr id="15" name="Shape 11"/>
          <p:cNvSpPr/>
          <p:nvPr/>
        </p:nvSpPr>
        <p:spPr>
          <a:xfrm>
            <a:off x="685800" y="3822192"/>
            <a:ext cx="1051560" cy="274320"/>
          </a:xfrm>
          <a:prstGeom prst="roundRect">
            <a:avLst>
              <a:gd name="adj" fmla="val 26667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49808" y="3867912"/>
            <a:ext cx="923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C2626"/>
                </a:solidFill>
              </a:rPr>
              <a:t>PROTOCOL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685800" y="4224528"/>
            <a:ext cx="3767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18212F"/>
                </a:solidFill>
              </a:rPr>
              <a:t>The source describes hiding information in TCP/IP packet properties and SIP/VoIP communication, where packet length or header fields become covert channels.</a:t>
            </a:r>
            <a:endParaRPr lang="en-US" sz="1160" dirty="0"/>
          </a:p>
        </p:txBody>
      </p:sp>
      <p:sp>
        <p:nvSpPr>
          <p:cNvPr id="18" name="Text 14"/>
          <p:cNvSpPr/>
          <p:nvPr/>
        </p:nvSpPr>
        <p:spPr>
          <a:xfrm>
            <a:off x="502920" y="619963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i="1" dirty="0">
                <a:solidFill>
                  <a:srgbClr val="64748B"/>
                </a:solidFill>
              </a:rPr>
              <a:t>Source: Saugata Dutta &amp; Dr. Om Prakash, “Ancient and Modern Steganography”, Asian Journal of Convergence in Technology, Vol. II, Issue III.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2563EB"/>
                </a:solidFill>
              </a:rPr>
              <a:t>13 • TECHNIQUES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2233F"/>
                </a:solidFill>
              </a:rPr>
              <a:t>Text steganography: lightweight but fragile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109728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1664208"/>
            <a:ext cx="1874520" cy="3383280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0704" y="1901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60704" y="2359152"/>
            <a:ext cx="1536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2233F"/>
                </a:solidFill>
              </a:rPr>
              <a:t>Character selection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60704" y="3063240"/>
            <a:ext cx="15361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B677A"/>
                </a:solidFill>
              </a:rPr>
              <a:t>Choose specific characters from cover text to carry the payload.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44952" y="1664208"/>
            <a:ext cx="1874520" cy="3383280"/>
          </a:xfrm>
          <a:prstGeom prst="roundRect">
            <a:avLst>
              <a:gd name="adj" fmla="val 2439"/>
            </a:avLst>
          </a:prstGeom>
          <a:solidFill>
            <a:srgbClr val="F0FD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9544" y="1901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9544" y="2359152"/>
            <a:ext cx="1536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2233F"/>
                </a:solidFill>
              </a:rPr>
              <a:t>HTML / tag hiding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209544" y="3063240"/>
            <a:ext cx="15361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B677A"/>
                </a:solidFill>
              </a:rPr>
              <a:t>Insert data in HTML structures that render as normal content.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193792" y="1664208"/>
            <a:ext cx="1874520" cy="3383280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58384" y="1901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58384" y="2359152"/>
            <a:ext cx="1536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2233F"/>
                </a:solidFill>
              </a:rPr>
              <a:t>Line &amp; word shifting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358384" y="3063240"/>
            <a:ext cx="15361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B677A"/>
                </a:solidFill>
              </a:rPr>
              <a:t>Use vertical or horizontal spacing as the carrier.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42632" y="1664208"/>
            <a:ext cx="1874520" cy="3383280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07224" y="1901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</a:rPr>
              <a:t>04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507224" y="2359152"/>
            <a:ext cx="1536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2233F"/>
                </a:solidFill>
              </a:rPr>
              <a:t>White-space coding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507224" y="3063240"/>
            <a:ext cx="15361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B677A"/>
                </a:solidFill>
              </a:rPr>
              <a:t>Two spaces can encode one state; one space another.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491472" y="1664208"/>
            <a:ext cx="1874520" cy="3383280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56064" y="1901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</a:rPr>
              <a:t>05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656064" y="2359152"/>
            <a:ext cx="1536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2233F"/>
                </a:solidFill>
              </a:rPr>
              <a:t>Semantic / abbreviation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656064" y="3063240"/>
            <a:ext cx="15361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B677A"/>
                </a:solidFill>
              </a:rPr>
              <a:t>Swap words for synonyms or coded abbreviations.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05840" y="5321808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77A"/>
                </a:solidFill>
              </a:rPr>
              <a:t>Source note: the article says digital-file text steganography may be less common because text often has only a small amount of redundant data.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2920" y="619963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i="1" dirty="0">
                <a:solidFill>
                  <a:srgbClr val="64748B"/>
                </a:solidFill>
              </a:rPr>
              <a:t>Source: Saugata Dutta &amp; Dr. Om Prakash, “Ancient and Modern Steganography”, Asian Journal of Convergence in Technology, Vol. II, Issue III.</a:t>
            </a:r>
            <a:endParaRPr lang="en-US" sz="72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2563EB"/>
                </a:solidFill>
              </a:rPr>
              <a:t>14 • DETECTION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2233F"/>
                </a:solidFill>
              </a:rPr>
              <a:t>Steganalysis: how hidden data is detected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45720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40680" y="1298448"/>
            <a:ext cx="6053328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1664208"/>
            <a:ext cx="1325880" cy="274320"/>
          </a:xfrm>
          <a:prstGeom prst="roundRect">
            <a:avLst>
              <a:gd name="adj" fmla="val 26667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6696" y="1709928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C2626"/>
                </a:solidFill>
              </a:rPr>
              <a:t>SOURCE DEFINITION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32688" y="2084832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2233F"/>
                </a:solidFill>
              </a:rPr>
              <a:t>Steganalysis is the process of detecting and retrieving secret data from a suspected stego file.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32688" y="3246120"/>
            <a:ext cx="3794760" cy="1737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320" dirty="0">
                <a:solidFill>
                  <a:srgbClr val="18212F"/>
                </a:solidFill>
              </a:rPr>
              <a:t>Stego-Only Attack</a:t>
            </a:r>
            <a:endParaRPr lang="en-US" sz="1320" dirty="0"/>
          </a:p>
          <a:p>
            <a:r>
              <a:rPr lang="en-US" sz="1320" dirty="0">
                <a:solidFill>
                  <a:srgbClr val="18212F"/>
                </a:solidFill>
              </a:rPr>
              <a:t>Known Cover Attack</a:t>
            </a:r>
            <a:endParaRPr lang="en-US" sz="1320" dirty="0"/>
          </a:p>
          <a:p>
            <a:r>
              <a:rPr lang="en-US" sz="1320" dirty="0">
                <a:solidFill>
                  <a:srgbClr val="18212F"/>
                </a:solidFill>
              </a:rPr>
              <a:t>Known Message Attack</a:t>
            </a:r>
            <a:endParaRPr lang="en-US" sz="1320" dirty="0"/>
          </a:p>
          <a:p>
            <a:r>
              <a:rPr lang="en-US" sz="1320" dirty="0">
                <a:solidFill>
                  <a:srgbClr val="18212F"/>
                </a:solidFill>
              </a:rPr>
              <a:t>Chosen Stego Attack</a:t>
            </a:r>
            <a:endParaRPr lang="en-US" sz="1320" dirty="0"/>
          </a:p>
          <a:p>
            <a:r>
              <a:rPr lang="en-US" sz="1320" dirty="0">
                <a:solidFill>
                  <a:srgbClr val="18212F"/>
                </a:solidFill>
              </a:rPr>
              <a:t>Chosen Message Attack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5760720" y="1664208"/>
            <a:ext cx="1600200" cy="27432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24728" y="1709928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EB"/>
                </a:solidFill>
              </a:rPr>
              <a:t>PRACTICAL WORKFLOW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806440" y="2240280"/>
            <a:ext cx="1170432" cy="731520"/>
          </a:xfrm>
          <a:prstGeom prst="roundRect">
            <a:avLst>
              <a:gd name="adj" fmla="val 6250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97880" y="2423160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12233F"/>
                </a:solidFill>
              </a:rPr>
              <a:t>Suspect file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6995160" y="2478024"/>
            <a:ext cx="228600" cy="228600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59752" y="2240280"/>
            <a:ext cx="1170432" cy="73152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51192" y="2423160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12233F"/>
                </a:solidFill>
              </a:rPr>
              <a:t>Feature / statistic analysis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8348472" y="2478024"/>
            <a:ext cx="228600" cy="228600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13064" y="2240280"/>
            <a:ext cx="1170432" cy="73152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04504" y="2423160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12233F"/>
                </a:solidFill>
              </a:rPr>
              <a:t>Compare / classify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9701784" y="2478024"/>
            <a:ext cx="228600" cy="228600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66376" y="2240280"/>
            <a:ext cx="1170432" cy="73152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57816" y="2423160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12233F"/>
                </a:solidFill>
              </a:rPr>
              <a:t>Extract or flag</a:t>
            </a:r>
            <a:endParaRPr lang="en-US" sz="1030" dirty="0"/>
          </a:p>
        </p:txBody>
      </p:sp>
      <p:sp>
        <p:nvSpPr>
          <p:cNvPr id="23" name="Text 21"/>
          <p:cNvSpPr/>
          <p:nvPr/>
        </p:nvSpPr>
        <p:spPr>
          <a:xfrm>
            <a:off x="5806440" y="3401568"/>
            <a:ext cx="51206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8212F"/>
                </a:solidFill>
              </a:rPr>
              <a:t>The article names tools such as StegDetect, StegSecret, JPeck/JPSeek, StegBreak, Jsteg-shell, F5, appendX, Camouflage, Hiderman, JPHide and Steganography analyzer.</a:t>
            </a:r>
            <a:endParaRPr lang="en-US" sz="1230" dirty="0"/>
          </a:p>
        </p:txBody>
      </p:sp>
      <p:sp>
        <p:nvSpPr>
          <p:cNvPr id="24" name="Text 22"/>
          <p:cNvSpPr/>
          <p:nvPr/>
        </p:nvSpPr>
        <p:spPr>
          <a:xfrm>
            <a:off x="5806440" y="4956048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2233F"/>
                </a:solidFill>
              </a:rPr>
              <a:t>Why it matters: embedding quality is not enough - the stego object should avoid obvious statistical or perceptual anomalies.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" y="619963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i="1" dirty="0">
                <a:solidFill>
                  <a:srgbClr val="64748B"/>
                </a:solidFill>
              </a:rPr>
              <a:t>Source: Saugata Dutta &amp; Dr. Om Prakash, “Ancient and Modern Steganography”, Asian Journal of Convergence in Technology, Vol. II, Issue III.</a:t>
            </a:r>
            <a:endParaRPr lang="en-US" sz="72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2563EB"/>
                </a:solidFill>
              </a:rPr>
              <a:t>15 • EVALUATION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2233F"/>
                </a:solidFill>
              </a:rPr>
              <a:t>Advantages, risks and real-world use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3474720" cy="4526280"/>
          </a:xfrm>
          <a:prstGeom prst="roundRect">
            <a:avLst>
              <a:gd name="adj" fmla="val 2105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70832" y="1280160"/>
            <a:ext cx="3474720" cy="4526280"/>
          </a:xfrm>
          <a:prstGeom prst="roundRect">
            <a:avLst>
              <a:gd name="adj" fmla="val 210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01584" y="1280160"/>
            <a:ext cx="3474720" cy="4526280"/>
          </a:xfrm>
          <a:prstGeom prst="roundRect">
            <a:avLst>
              <a:gd name="adj" fmla="val 2105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" y="1627632"/>
            <a:ext cx="960120" cy="274320"/>
          </a:xfrm>
          <a:prstGeom prst="roundRect">
            <a:avLst>
              <a:gd name="adj" fmla="val 26667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6696" y="1673352"/>
            <a:ext cx="832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</a:rPr>
              <a:t>BENEFITS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32688" y="2103120"/>
            <a:ext cx="2788920" cy="2743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320" dirty="0">
                <a:solidFill>
                  <a:srgbClr val="18212F"/>
                </a:solidFill>
              </a:rPr>
              <a:t>Digital watermarking and copyright protection</a:t>
            </a:r>
            <a:endParaRPr lang="en-US" sz="1320" dirty="0"/>
          </a:p>
          <a:p>
            <a:r>
              <a:rPr lang="en-US" sz="1320" dirty="0">
                <a:solidFill>
                  <a:srgbClr val="18212F"/>
                </a:solidFill>
              </a:rPr>
              <a:t>Low-visibility communication</a:t>
            </a:r>
            <a:endParaRPr lang="en-US" sz="1320" dirty="0"/>
          </a:p>
          <a:p>
            <a:r>
              <a:rPr lang="en-US" sz="1320" dirty="0">
                <a:solidFill>
                  <a:srgbClr val="18212F"/>
                </a:solidFill>
              </a:rPr>
              <a:t>Can combine with cryptography</a:t>
            </a:r>
            <a:endParaRPr lang="en-US" sz="1320" dirty="0"/>
          </a:p>
          <a:p>
            <a:r>
              <a:rPr lang="en-US" sz="1320" dirty="0">
                <a:solidFill>
                  <a:srgbClr val="18212F"/>
                </a:solidFill>
              </a:rPr>
              <a:t>Flexible across many media types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4645152" y="1627632"/>
            <a:ext cx="1234440" cy="274320"/>
          </a:xfrm>
          <a:prstGeom prst="roundRect">
            <a:avLst>
              <a:gd name="adj" fmla="val 26667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673352"/>
            <a:ext cx="1106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EB"/>
                </a:solidFill>
              </a:rPr>
              <a:t>SECURITY LENS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645152" y="2103120"/>
            <a:ext cx="2788920" cy="2743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320" dirty="0">
                <a:solidFill>
                  <a:srgbClr val="18212F"/>
                </a:solidFill>
              </a:rPr>
              <a:t>Capacity vs. imperceptibility</a:t>
            </a:r>
            <a:endParaRPr lang="en-US" sz="1320" dirty="0"/>
          </a:p>
          <a:p>
            <a:r>
              <a:rPr lang="en-US" sz="1320" dirty="0">
                <a:solidFill>
                  <a:srgbClr val="18212F"/>
                </a:solidFill>
              </a:rPr>
              <a:t>Robustness vs. distortion</a:t>
            </a:r>
            <a:endParaRPr lang="en-US" sz="1320" dirty="0"/>
          </a:p>
          <a:p>
            <a:r>
              <a:rPr lang="en-US" sz="1320" dirty="0">
                <a:solidFill>
                  <a:srgbClr val="18212F"/>
                </a:solidFill>
              </a:rPr>
              <a:t>Detection resistance</a:t>
            </a:r>
            <a:endParaRPr lang="en-US" sz="1320" dirty="0"/>
          </a:p>
          <a:p>
            <a:r>
              <a:rPr lang="en-US" sz="1320" dirty="0">
                <a:solidFill>
                  <a:srgbClr val="18212F"/>
                </a:solidFill>
              </a:rPr>
              <a:t>Key management when cryptography is added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8375904" y="1627632"/>
            <a:ext cx="777240" cy="274320"/>
          </a:xfrm>
          <a:prstGeom prst="roundRect">
            <a:avLst>
              <a:gd name="adj" fmla="val 26667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39912" y="1673352"/>
            <a:ext cx="649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C2626"/>
                </a:solidFill>
              </a:rPr>
              <a:t>RISKS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375904" y="2103120"/>
            <a:ext cx="2788920" cy="2743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320" dirty="0">
                <a:solidFill>
                  <a:srgbClr val="18212F"/>
                </a:solidFill>
              </a:rPr>
              <a:t>The article notes misuse in terrorism-related contexts</a:t>
            </a:r>
            <a:endParaRPr lang="en-US" sz="1320" dirty="0"/>
          </a:p>
          <a:p>
            <a:r>
              <a:rPr lang="en-US" sz="1320" dirty="0">
                <a:solidFill>
                  <a:srgbClr val="18212F"/>
                </a:solidFill>
              </a:rPr>
              <a:t>Hidden messages can defeat ordinary inspection</a:t>
            </a:r>
            <a:endParaRPr lang="en-US" sz="1320" dirty="0"/>
          </a:p>
          <a:p>
            <a:r>
              <a:rPr lang="en-US" sz="1320" dirty="0">
                <a:solidFill>
                  <a:srgbClr val="18212F"/>
                </a:solidFill>
              </a:rPr>
              <a:t>Steganalysis is needed for defensive detection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1097280" y="5138928"/>
            <a:ext cx="10012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677A"/>
                </a:solidFill>
              </a:rPr>
              <a:t>Source framing: the same concealment property that enables privacy and watermarking can also be exploited for covert or malicious communication.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2920" y="619963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i="1" dirty="0">
                <a:solidFill>
                  <a:srgbClr val="64748B"/>
                </a:solidFill>
              </a:rPr>
              <a:t>Source: Saugata Dutta &amp; Dr. Om Prakash, “Ancient and Modern Steganography”, Asian Journal of Convergence in Technology, Vol. II, Issue III.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2563EB"/>
                </a:solidFill>
              </a:rPr>
              <a:t>16 • TAKEAWAYS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2233F"/>
                </a:solidFill>
              </a:rPr>
              <a:t>Evaluation checklist for a practical demo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63040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417320" y="1344168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2233F"/>
                </a:solidFill>
              </a:rPr>
              <a:t>Can the receiver recover the exact message?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0" y="13441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B677A"/>
                </a:solidFill>
              </a:rPr>
              <a:t>Correctness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417320" y="1828800"/>
            <a:ext cx="9281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167128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30428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17320" y="2185416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2233F"/>
                </a:solidFill>
              </a:rPr>
              <a:t>Can a viewer notice the carrier changed?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98080" y="21854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B677A"/>
                </a:solidFill>
              </a:rPr>
              <a:t>Perceptual quality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417320" y="2670048"/>
            <a:ext cx="9281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008376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145536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417320" y="3026664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2233F"/>
                </a:solidFill>
              </a:rPr>
              <a:t>Does statistical analysis detect the change?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498080" y="302666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B677A"/>
                </a:solidFill>
              </a:rPr>
              <a:t>Steganalysis resistance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417320" y="3511296"/>
            <a:ext cx="9281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3849624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986784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417320" y="3867912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2233F"/>
                </a:solidFill>
              </a:rPr>
              <a:t>How much information can be embedded?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498080" y="38679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B677A"/>
                </a:solidFill>
              </a:rPr>
              <a:t>Capacity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417320" y="4352544"/>
            <a:ext cx="9281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4690872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82803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417320" y="470916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2233F"/>
                </a:solidFill>
              </a:rPr>
              <a:t>Does compression / filtering break recovery?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498080" y="47091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B677A"/>
                </a:solidFill>
              </a:rPr>
              <a:t>Robustness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417320" y="5193792"/>
            <a:ext cx="9281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69680" y="5413248"/>
            <a:ext cx="2103120" cy="411480"/>
          </a:xfrm>
          <a:prstGeom prst="roundRect">
            <a:avLst>
              <a:gd name="adj" fmla="val 17778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06840" y="55321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Good demo = hide + recover + measure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502920" y="619963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i="1" dirty="0">
                <a:solidFill>
                  <a:srgbClr val="64748B"/>
                </a:solidFill>
              </a:rPr>
              <a:t>Source: Saugata Dutta &amp; Dr. Om Prakash, “Ancient and Modern Steganography”, Asian Journal of Convergence in Technology, Vol. II, Issue III.</a:t>
            </a:r>
            <a:endParaRPr lang="en-US" sz="72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2563EB"/>
                </a:solidFill>
              </a:rPr>
              <a:t>17 • CLOSE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2233F"/>
                </a:solidFill>
              </a:rPr>
              <a:t>Conclusion and references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5577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2233F"/>
                </a:solidFill>
              </a:rPr>
              <a:t>Steganography is not a new art; the concept stays stable while the medium evolves.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58368" y="2148840"/>
            <a:ext cx="5577840" cy="2514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320" dirty="0">
                <a:solidFill>
                  <a:srgbClr val="18212F"/>
                </a:solidFill>
              </a:rPr>
              <a:t>Ancient examples hide information in objects, bodies, patterns and ordinary text.</a:t>
            </a:r>
            <a:endParaRPr lang="en-US" sz="1320" dirty="0"/>
          </a:p>
          <a:p>
            <a:r>
              <a:rPr lang="en-US" sz="1320" dirty="0">
                <a:solidFill>
                  <a:srgbClr val="18212F"/>
                </a:solidFill>
              </a:rPr>
              <a:t>Modern systems hide data in text, images, audio, video and network protocols.</a:t>
            </a:r>
            <a:endParaRPr lang="en-US" sz="1320" dirty="0"/>
          </a:p>
          <a:p>
            <a:r>
              <a:rPr lang="en-US" sz="1320" dirty="0">
                <a:solidFill>
                  <a:srgbClr val="18212F"/>
                </a:solidFill>
              </a:rPr>
              <a:t>Steganalysis is the defensive counterpoint: detect, analyze and recover hidden information.</a:t>
            </a:r>
            <a:endParaRPr lang="en-US" sz="1320" dirty="0"/>
          </a:p>
          <a:p>
            <a:r>
              <a:rPr lang="en-US" sz="1320" dirty="0">
                <a:solidFill>
                  <a:srgbClr val="18212F"/>
                </a:solidFill>
              </a:rPr>
              <a:t>For a technical implementation, measure correctness, perceptual quality, capacity and detectability.</a:t>
            </a:r>
            <a:endParaRPr lang="en-US" sz="1320" dirty="0"/>
          </a:p>
        </p:txBody>
      </p:sp>
      <p:sp>
        <p:nvSpPr>
          <p:cNvPr id="6" name="Shape 4"/>
          <p:cNvSpPr/>
          <p:nvPr/>
        </p:nvSpPr>
        <p:spPr>
          <a:xfrm>
            <a:off x="6492240" y="1188720"/>
            <a:ext cx="4983480" cy="4800600"/>
          </a:xfrm>
          <a:prstGeom prst="roundRect">
            <a:avLst>
              <a:gd name="adj" fmla="val 15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12280" y="15361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33F"/>
                </a:solidFill>
              </a:rPr>
              <a:t>Reference in the uploaded PDF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12280" y="1993392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8212F"/>
                </a:solidFill>
              </a:rPr>
              <a:t>Dutta, S. &amp; Prakash, O.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8212F"/>
                </a:solidFill>
              </a:rPr>
              <a:t>Ancient and Modern Steganography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8212F"/>
                </a:solidFill>
              </a:rPr>
              <a:t>Asian Journal of Convergence in Technology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8212F"/>
                </a:solidFill>
              </a:rPr>
              <a:t>Volume II, Issue III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8212F"/>
                </a:solidFill>
              </a:rPr>
              <a:t>ISSN No.: 2350-1146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12280" y="3246120"/>
            <a:ext cx="41605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5B677A"/>
                </a:solidFill>
              </a:rPr>
              <a:t>Selected references listed in the article include: J. Simmons (Prisoners’ Problem), Saini &amp; Saini, Cheddad et al., Kaur &amp; Behal, Bassil, Kumar &amp; Yadav, Hussain &amp; Hussain, Sharma &amp; Sharma, Judge, Patel &amp; Gadhiya, Lu, plus the URLs cited as [13]-[19].</a:t>
            </a:r>
            <a:endParaRPr lang="en-US" sz="1060" dirty="0"/>
          </a:p>
        </p:txBody>
      </p:sp>
      <p:sp>
        <p:nvSpPr>
          <p:cNvPr id="10" name="Text 8"/>
          <p:cNvSpPr/>
          <p:nvPr/>
        </p:nvSpPr>
        <p:spPr>
          <a:xfrm>
            <a:off x="502920" y="6144768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i="1" dirty="0">
                <a:solidFill>
                  <a:srgbClr val="64748B"/>
                </a:solidFill>
              </a:rPr>
              <a:t>Source: Saugata Dutta &amp; Dr. Om Prakash, “Ancient and Modern Steganography”, Asian Journal of Convergence in Technology, Vol. II, Issue III.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